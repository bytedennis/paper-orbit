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lan vs actual" id="{57d66bbe-3d87-96b8-9b63-74f9e09f5c71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+mn-lt"/>
              </a:rPr>
              <a:t>Variance to plan by line, $m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to plan</c:v>
                </c:pt>
              </c:strCache>
            </c:strRef>
          </c:tx>
          <c:spPr>
            <a:solidFill>
              <a:srgbClr val="0CA30C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C6B7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A3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3B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3B3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CA3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03B3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03B3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CA3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Net interest income</c:v>
                  </c:pt>
                  <c:pt idx="1">
                    <c:v>Card interchange &amp; fees</c:v>
                  </c:pt>
                  <c:pt idx="2">
                    <c:v>Deposit service charges</c:v>
                  </c:pt>
                  <c:pt idx="3">
                    <c:v>Mortgage banking income</c:v>
                  </c:pt>
                  <c:pt idx="4">
                    <c:v>Operating expense</c:v>
                  </c:pt>
                  <c:pt idx="5">
                    <c:v>Provision for credit losses</c:v>
                  </c:pt>
                  <c:pt idx="6">
                    <c:v>Pre-tax profit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4.2</c:v>
                </c:pt>
                <c:pt idx="1">
                  <c:v>-1.1</c:v>
                </c:pt>
                <c:pt idx="2">
                  <c:v>-0.4</c:v>
                </c:pt>
                <c:pt idx="3">
                  <c:v>0.8</c:v>
                </c:pt>
                <c:pt idx="4">
                  <c:v>-1.9</c:v>
                </c:pt>
                <c:pt idx="5">
                  <c:v>-0.6</c:v>
                </c:pt>
                <c:pt idx="6">
                  <c:v>1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1000" u="none">
                  <a:solidFill>
                    <a:srgbClr val="5C6B7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-3"/>
        </c:scaling>
        <c:delete val="0"/>
        <c:axPos val="b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+0;-0;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Plan-vs-actual variance. Left: one bar per P&amp;L line, favourable variance positive, unfavourable negative, so the eye finds the problem lines at once. Right: the numbers behind the bars plus three drivers written as cause, not restatement. Costs and provisions are shown as negatives in the table to keep the arithmetic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September pre-tax profit landed $1.0m (0.9%) above plan: a deposit volume beat offset by costs and card fees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Plan vs actual, September 2026, $m  ·  Monthly finance review  ·  Source: Management P&amp;L (illustrative)  ·  Favourable variance = positive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783080"/>
          <a:ext cx="5013655" cy="914400"/>
        </p:xfrm>
        <a:graphic>
          <a:graphicData uri="http://schemas.openxmlformats.org/drawingml/2006/table">
            <a:tbl>
              <a:tblPr/>
              <a:tblGrid>
                <a:gridCol w="2130552"/>
                <a:gridCol w="777240"/>
                <a:gridCol w="777240"/>
                <a:gridCol w="68580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C6B7A"/>
                          </a:solidFill>
                        </a:rPr>
                        <a:t>$M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C6B7A"/>
                          </a:solidFill>
                        </a:rPr>
                        <a:t>PLAN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C6B7A"/>
                          </a:solidFill>
                        </a:rPr>
                        <a:t>ACTUAL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C6B7A"/>
                          </a:solidFill>
                        </a:rPr>
                        <a:t>VAR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C6B7A"/>
                          </a:solidFill>
                        </a:rPr>
                        <a:t>VAR %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Net interest income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C6B7A"/>
                          </a:solidFill>
                        </a:rPr>
                        <a:t>198.4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202.6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+4.2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6300"/>
                          </a:solidFill>
                        </a:rPr>
                        <a:t>+2.1%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Card interchange &amp; fees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C6B7A"/>
                          </a:solidFill>
                        </a:rPr>
                        <a:t>31.0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29.9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</a:rPr>
                        <a:t>−1.1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3261E"/>
                          </a:solidFill>
                        </a:rPr>
                        <a:t>−3.5%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Deposit service charges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C6B7A"/>
                          </a:solidFill>
                        </a:rPr>
                        <a:t>12.6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12.2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</a:rPr>
                        <a:t>−0.4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3261E"/>
                          </a:solidFill>
                        </a:rPr>
                        <a:t>−3.2%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Mortgage banking income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C6B7A"/>
                          </a:solidFill>
                        </a:rPr>
                        <a:t>9.4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10.2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+0.8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6300"/>
                          </a:solidFill>
                        </a:rPr>
                        <a:t>+8.5%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</a:rPr>
                        <a:t>Total revenue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C6B7A"/>
                          </a:solidFill>
                        </a:rPr>
                        <a:t>251.4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</a:rPr>
                        <a:t>254.9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+3.5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+1.4%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Operating expense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C6B7A"/>
                          </a:solidFill>
                        </a:rPr>
                        <a:t>(132.0)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(133.9)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</a:rPr>
                        <a:t>−1.9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3261E"/>
                          </a:solidFill>
                        </a:rPr>
                        <a:t>−1.4%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Provision for credit losses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C6B7A"/>
                          </a:solidFill>
                        </a:rPr>
                        <a:t>(11.6)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(12.2)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</a:rPr>
                        <a:t>−0.6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3261E"/>
                          </a:solidFill>
                        </a:rPr>
                        <a:t>−5.2%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</a:rPr>
                        <a:t>Pre-tax profit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C6B7A"/>
                          </a:solidFill>
                        </a:rPr>
                        <a:t>107.8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</a:rPr>
                        <a:t>108.8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+1.0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+0.9%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6720840" y="4526280"/>
            <a:ext cx="5013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DRIVERS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6720840" y="4800600"/>
            <a:ext cx="50136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Volume: average deposits $0.9bn above plan and rate paid 2 bps better than modelled</a:t>
            </a:r>
            <a:endParaRPr lang="en-US" sz="12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Fees: interchange volumes −3% on lower travel spend; the fee-waiver programme cost $0.3m</a:t>
            </a:r>
            <a:endParaRPr lang="en-US" sz="12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Costs: $1.2m of severance pulled forward from Q4 — timing, not run-rate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ean">
  <a:themeElements>
    <a:clrScheme name="Ocean">
      <a:dk1>
        <a:srgbClr val="14213D"/>
      </a:dk1>
      <a:lt1>
        <a:srgbClr val="FFFFFF"/>
      </a:lt1>
      <a:dk2>
        <a:srgbClr val="5C6B7A"/>
      </a:dk2>
      <a:lt2>
        <a:srgbClr val="EDF3F8"/>
      </a:lt2>
      <a:accent1>
        <a:srgbClr val="065A82"/>
      </a:accent1>
      <a:accent2>
        <a:srgbClr val="1C7293"/>
      </a:accent2>
      <a:accent3>
        <a:srgbClr val="21295C"/>
      </a:accent3>
      <a:accent4>
        <a:srgbClr val="9EC5D8"/>
      </a:accent4>
      <a:accent5>
        <a:srgbClr val="4B86A6"/>
      </a:accent5>
      <a:accent6>
        <a:srgbClr val="E09F3E"/>
      </a:accent6>
      <a:hlink>
        <a:srgbClr val="065A82"/>
      </a:hlink>
      <a:folHlink>
        <a:srgbClr val="5C6B7A"/>
      </a:folHlink>
    </a:clrScheme>
    <a:fontScheme name="Ocea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September pre-tax profit landed $1.0m (0.9%) above plan: a deposit volume beat offset by costs and card fees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