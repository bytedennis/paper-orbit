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lan vs actual" id="{17b73543-59e9-41c2-f85d-f43c273266e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 algn="l">
              <a:defRPr sz="11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4213D"/>
                </a:solidFill>
                <a:latin typeface="+mn-lt"/>
              </a:rPr>
              <a:t>Variance to plan by line, $m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to plan</c:v>
                </c:pt>
              </c:strCache>
            </c:strRef>
          </c:tx>
          <c:spPr>
            <a:solidFill>
              <a:srgbClr val="0CA30C"/>
            </a:solidFill>
            <a:effectLst/>
          </c:spPr>
          <c:invertIfNegative val="0"/>
          <c:dLbls>
            <c:numFmt formatCode="+0.0;-0.0;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C6B7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CA30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03B3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03B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CA30C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03B3B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03B3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CA30C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Net interest income</c:v>
                  </c:pt>
                  <c:pt idx="1">
                    <c:v>Card interchange &amp; fees</c:v>
                  </c:pt>
                  <c:pt idx="2">
                    <c:v>Deposit service charges</c:v>
                  </c:pt>
                  <c:pt idx="3">
                    <c:v>Mortgage banking income</c:v>
                  </c:pt>
                  <c:pt idx="4">
                    <c:v>Operating expense</c:v>
                  </c:pt>
                  <c:pt idx="5">
                    <c:v>Provision for credit losses</c:v>
                  </c:pt>
                  <c:pt idx="6">
                    <c:v>Pre-tax profit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4.2</c:v>
                </c:pt>
                <c:pt idx="1">
                  <c:v>-1.1</c:v>
                </c:pt>
                <c:pt idx="2">
                  <c:v>-0.4</c:v>
                </c:pt>
                <c:pt idx="3">
                  <c:v>0.8</c:v>
                </c:pt>
                <c:pt idx="4">
                  <c:v>-1.9</c:v>
                </c:pt>
                <c:pt idx="5">
                  <c:v>-0.6</c:v>
                </c:pt>
                <c:pt idx="6">
                  <c:v>1</c:v>
                </c:pt>
              </c:numCache>
            </c:numRef>
          </c:val>
        </c:ser>
        <c:dLbls>
          <c:numFmt formatCode="+0.0;-0.0;0.0" sourceLinked="0"/>
          <c:txPr>
            <a:bodyPr/>
            <a:lstStyle/>
            <a:p>
              <a:pPr>
                <a:defRPr b="0" i="0" strike="noStrike" sz="1000" u="none">
                  <a:solidFill>
                    <a:srgbClr val="5C6B7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2B7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-3"/>
        </c:scaling>
        <c:delete val="0"/>
        <c:axPos val="b"/>
        <c:majorGridlines>
          <c:spPr>
            <a:ln w="6350" cap="flat">
              <a:solidFill>
                <a:srgbClr val="E1E0D9"/>
              </a:solidFill>
              <a:prstDash val="solid"/>
              <a:round/>
            </a:ln>
          </c:spPr>
        </c:majorGridlines>
        <c:numFmt formatCode="+0;-0;0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Plan-vs-actual variance. Left: one bar per P&amp;L line, favourable variance positive, unfavourable negative, so the eye finds the problem lines at once. Right: the numbers behind the bars plus three drivers written as cause, not restatement. Costs and provisions are shown as negatives in the table to keep the arithmetic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_PAG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Action title: the one sentence you want remembered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Period · audience · owner · date</a:t>
            </a:r>
            <a:endParaRPr lang="en-US" sz="12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64465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All figures are illustrative and for template use only  ·  Consumer Banking  ·  Replace with actuals before distribution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112772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September pre-tax profit landed $1.0m (0.9%) above plan: a deposit volume beat offset by costs and card fees</a:t>
            </a:r>
            <a:endParaRPr lang="en-US" sz="2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128016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Plan vs actual, September 2026, $m  ·  Monthly finance review  ·  Source: Management P&amp;L (illustrative)  ·  Favourable variance = positive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20840" y="1783080"/>
          <a:ext cx="5013655" cy="914400"/>
        </p:xfrm>
        <a:graphic>
          <a:graphicData uri="http://schemas.openxmlformats.org/drawingml/2006/table">
            <a:tbl>
              <a:tblPr/>
              <a:tblGrid>
                <a:gridCol w="2130552"/>
                <a:gridCol w="777240"/>
                <a:gridCol w="777240"/>
                <a:gridCol w="685800"/>
                <a:gridCol w="73152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C6B7A"/>
                          </a:solidFill>
                        </a:rPr>
                        <a:t>$M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C6B7A"/>
                          </a:solidFill>
                        </a:rPr>
                        <a:t>PLAN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C6B7A"/>
                          </a:solidFill>
                        </a:rPr>
                        <a:t>ACTUAL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C6B7A"/>
                          </a:solidFill>
                        </a:rPr>
                        <a:t>VAR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spc="100" kern="0" dirty="0">
                          <a:solidFill>
                            <a:srgbClr val="5C6B7A"/>
                          </a:solidFill>
                        </a:rPr>
                        <a:t>VAR %</a:t>
                      </a:r>
                      <a:endParaRPr lang="en-US" sz="900" dirty="0"/>
                    </a:p>
                  </a:txBody>
                  <a:tcPr marL="73152" marR="73152" marT="36576" marB="36576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Net interest income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198.4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202.6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+4.2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6300"/>
                          </a:solidFill>
                        </a:rPr>
                        <a:t>+2.1%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Card interchange &amp; fees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31.0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29.9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−1.1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3261E"/>
                          </a:solidFill>
                        </a:rPr>
                        <a:t>−3.5%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Deposit service charges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12.6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12.2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−0.4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3261E"/>
                          </a:solidFill>
                        </a:rPr>
                        <a:t>−3.2%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Mortgage banking income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9.4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10.2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+0.8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006300"/>
                          </a:solidFill>
                        </a:rPr>
                        <a:t>+8.5%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</a:rPr>
                        <a:t>Total revenue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</a:rPr>
                        <a:t>251.4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</a:rPr>
                        <a:t>254.9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+3.5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+1.4%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Operating expense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(132.0)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(133.9)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−1.9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3261E"/>
                          </a:solidFill>
                        </a:rPr>
                        <a:t>−1.4%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Provision for credit losses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5C6B7A"/>
                          </a:solidFill>
                        </a:rPr>
                        <a:t>(11.6)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(12.2)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B3261E"/>
                          </a:solidFill>
                        </a:rPr>
                        <a:t>−0.6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B3261E"/>
                          </a:solidFill>
                        </a:rPr>
                        <a:t>−5.2%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</a:rPr>
                        <a:t>Pre-tax profit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</a:rPr>
                        <a:t>107.8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4213D"/>
                          </a:solidFill>
                        </a:rPr>
                        <a:t>108.8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+1.0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6300"/>
                          </a:solidFill>
                        </a:rPr>
                        <a:t>+0.9%</a:t>
                      </a:r>
                      <a:endParaRPr lang="en-US" sz="11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720840" y="4526280"/>
            <a:ext cx="5013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chemeClr val="tx2"/>
                </a:solidFill>
              </a:rPr>
              <a:t>DRIVERS</a:t>
            </a:r>
            <a:endParaRPr lang="en-US" sz="1000" dirty="0"/>
          </a:p>
        </p:txBody>
      </p:sp>
      <p:sp>
        <p:nvSpPr>
          <p:cNvPr id="8" name="Text 3"/>
          <p:cNvSpPr txBox="1"/>
          <p:nvPr/>
        </p:nvSpPr>
        <p:spPr>
          <a:xfrm>
            <a:off x="6720840" y="4800600"/>
            <a:ext cx="50136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Volume: average deposits $0.9bn above plan and rate paid 2 bps better than modelled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Fees: interchange volumes −3% on lower travel spend; the fee-waiver programme cost $0.3m</a:t>
            </a:r>
            <a:endParaRPr lang="en-US" sz="1200" dirty="0"/>
          </a:p>
          <a:p>
            <a:pPr algn="l"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Costs: $1.2m of severance pulled forward from Q4 — timing, not run-rate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ean">
  <a:themeElements>
    <a:clrScheme name="Ocean">
      <a:dk1>
        <a:srgbClr val="14213D"/>
      </a:dk1>
      <a:lt1>
        <a:srgbClr val="FFFFFF"/>
      </a:lt1>
      <a:dk2>
        <a:srgbClr val="5C6B7A"/>
      </a:dk2>
      <a:lt2>
        <a:srgbClr val="EDF3F8"/>
      </a:lt2>
      <a:accent1>
        <a:srgbClr val="065A82"/>
      </a:accent1>
      <a:accent2>
        <a:srgbClr val="1C7293"/>
      </a:accent2>
      <a:accent3>
        <a:srgbClr val="21295C"/>
      </a:accent3>
      <a:accent4>
        <a:srgbClr val="9EC5D8"/>
      </a:accent4>
      <a:accent5>
        <a:srgbClr val="4B86A6"/>
      </a:accent5>
      <a:accent6>
        <a:srgbClr val="E09F3E"/>
      </a:accent6>
      <a:hlink>
        <a:srgbClr val="065A82"/>
      </a:hlink>
      <a:folHlink>
        <a:srgbClr val="5C6B7A"/>
      </a:folHlink>
    </a:clrScheme>
    <a:fontScheme name="Ocea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Consumer Banking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September pre-tax profit landed $1.0m (0.9%) above plan: a deposit volume beat offset by costs and card fees</dc:title>
  <dc:subject>One-slide manager report template</dc:subject>
  <dc:creator>Consumer Banking</dc:creator>
  <cp:lastModifiedBy>Consumer Banking</cp:lastModifiedBy>
  <cp:revision>1</cp:revision>
  <dcterms:created xsi:type="dcterms:W3CDTF">2026-10-05T12:57:55Z</dcterms:created>
  <dcterms:modified xsi:type="dcterms:W3CDTF">2026-10-05T12:57:55Z</dcterms:modified>
</cp:coreProperties>
</file>