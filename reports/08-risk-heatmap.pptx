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isk heat map" id="{6f0df5ed-a505-9140-a04c-9a21c651bf54}">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heat map. Left: likelihood × impact grid, one hue, darker = more severe, numbered markers. Right: the register behind the numbers with owner, mitigation and trend versus last quarter. The title says how many risks are high and what you want the reader to do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_PAG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Action title: the one sentence you want remembered</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rtlCol="0"/>
          <a:lstStyle>
            <a:lvl1pPr algn="l" indent="0" marL="0">
              <a:buNone/>
              <a:defRPr lang="en-US" sz="1200" dirty="0">
                <a:solidFill>
                  <a:schemeClr val="tx2"/>
                </a:solidFill>
              </a:defRPr>
            </a:lvl1pPr>
          </a:lstStyle>
          <a:p>
            <a:pPr algn="l" indent="0" marL="0">
              <a:buNone/>
            </a:pPr>
            <a:r>
              <a:rPr lang="en-US" sz="1200" dirty="0">
                <a:solidFill>
                  <a:schemeClr val="tx2"/>
                </a:solidFill>
              </a:rPr>
              <a:t>Period · audience · owner · date</a:t>
            </a:r>
            <a:endParaRPr lang="en-US" sz="1200" dirty="0"/>
          </a:p>
        </p:txBody>
      </p:sp>
      <p:sp>
        <p:nvSpPr>
          <p:cNvPr id="4" name="Text 0"/>
          <p:cNvSpPr txBox="1"/>
          <p:nvPr/>
        </p:nvSpPr>
        <p:spPr>
          <a:xfrm>
            <a:off x="457200" y="6446520"/>
            <a:ext cx="11277295" cy="256032"/>
          </a:xfrm>
          <a:prstGeom prst="rect">
            <a:avLst/>
          </a:prstGeom>
          <a:noFill/>
          <a:ln/>
        </p:spPr>
        <p:txBody>
          <a:bodyPr wrap="square" lIns="0" tIns="0" rIns="0" bIns="0" rtlCol="0" anchor="ctr"/>
          <a:lstStyle/>
          <a:p>
            <a:pPr algn="l" indent="0" marL="0">
              <a:buNone/>
            </a:pPr>
            <a:r>
              <a:rPr lang="en-US" sz="1000" dirty="0">
                <a:solidFill>
                  <a:schemeClr val="tx2"/>
                </a:solidFill>
              </a:rPr>
              <a:t>All figures are illustrative and for template use only  ·  Consumer Banking  ·  Replace with actuals before distribution</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lIns="0" tIns="0" rIns="0" bIns="0" rtlCol="0" anchor="b"/>
          <a:lstStyle/>
          <a:p>
            <a:pPr algn="l" indent="0" marL="0">
              <a:buNone/>
            </a:pPr>
            <a:r>
              <a:rPr lang="en-US" sz="2800" b="1" dirty="0">
                <a:solidFill>
                  <a:schemeClr val="tx1"/>
                </a:solidFill>
              </a:rPr>
              <a:t>Top risks to the Consumer Banking plan: two are rated high and need executive attention this quarter</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lIns="0" tIns="0" rIns="0" bIns="0" rtlCol="0" anchor="t"/>
          <a:lstStyle/>
          <a:p>
            <a:pPr algn="l" indent="0" marL="0">
              <a:buNone/>
            </a:pPr>
            <a:r>
              <a:rPr lang="en-US" sz="1200" dirty="0">
                <a:solidFill>
                  <a:schemeClr val="tx2"/>
                </a:solidFill>
              </a:rPr>
              <a:t>Risk register extract, Q4 2026  ·  Quarterly risk review  ·  Owner: Business Risk &amp; Controls  ·  Reviewed with second line</a:t>
            </a:r>
            <a:endParaRPr lang="en-US" sz="1200" dirty="0"/>
          </a:p>
        </p:txBody>
      </p:sp>
      <p:sp>
        <p:nvSpPr>
          <p:cNvPr id="5" name="Text 2"/>
          <p:cNvSpPr txBox="1"/>
          <p:nvPr/>
        </p:nvSpPr>
        <p:spPr>
          <a:xfrm>
            <a:off x="457200" y="1783080"/>
            <a:ext cx="2286000" cy="228600"/>
          </a:xfrm>
          <a:prstGeom prst="rect">
            <a:avLst/>
          </a:prstGeom>
          <a:noFill/>
          <a:ln/>
        </p:spPr>
        <p:txBody>
          <a:bodyPr wrap="square" lIns="0" tIns="0" rIns="0" bIns="0" rtlCol="0" anchor="t"/>
          <a:lstStyle/>
          <a:p>
            <a:pPr algn="l" indent="0" marL="0">
              <a:buNone/>
            </a:pPr>
            <a:r>
              <a:rPr lang="en-US" sz="1000" b="1" spc="200" kern="0" dirty="0">
                <a:solidFill>
                  <a:schemeClr val="tx2"/>
                </a:solidFill>
              </a:rPr>
              <a:t>LIKELIHOOD</a:t>
            </a:r>
            <a:endParaRPr lang="en-US" sz="1000" dirty="0"/>
          </a:p>
        </p:txBody>
      </p:sp>
      <p:sp>
        <p:nvSpPr>
          <p:cNvPr id="6" name="Text 3"/>
          <p:cNvSpPr txBox="1"/>
          <p:nvPr/>
        </p:nvSpPr>
        <p:spPr>
          <a:xfrm>
            <a:off x="457200" y="2103120"/>
            <a:ext cx="685800" cy="1097280"/>
          </a:xfrm>
          <a:prstGeom prst="rect">
            <a:avLst/>
          </a:prstGeom>
          <a:noFill/>
          <a:ln/>
        </p:spPr>
        <p:txBody>
          <a:bodyPr wrap="square" lIns="0" tIns="0" rIns="0" bIns="0" rtlCol="0" anchor="ctr"/>
          <a:lstStyle/>
          <a:p>
            <a:pPr algn="r" indent="0" marL="0">
              <a:buNone/>
            </a:pPr>
            <a:r>
              <a:rPr lang="en-US" sz="1000" dirty="0">
                <a:solidFill>
                  <a:schemeClr val="tx2"/>
                </a:solidFill>
              </a:rPr>
              <a:t>High</a:t>
            </a:r>
            <a:endParaRPr lang="en-US" sz="1000" dirty="0"/>
          </a:p>
        </p:txBody>
      </p:sp>
      <p:sp>
        <p:nvSpPr>
          <p:cNvPr id="7" name="Shape 4"/>
          <p:cNvSpPr/>
          <p:nvPr/>
        </p:nvSpPr>
        <p:spPr>
          <a:xfrm>
            <a:off x="1234440" y="2103120"/>
            <a:ext cx="1188720" cy="1097280"/>
          </a:xfrm>
          <a:prstGeom prst="rect">
            <a:avLst/>
          </a:prstGeom>
          <a:solidFill>
            <a:srgbClr val="E4B1A5"/>
          </a:solidFill>
          <a:ln w="25400">
            <a:solidFill>
              <a:srgbClr val="FFFFFF"/>
            </a:solidFill>
            <a:prstDash val="solid"/>
          </a:ln>
        </p:spPr>
      </p:sp>
      <p:sp>
        <p:nvSpPr>
          <p:cNvPr id="8" name="Shape 5"/>
          <p:cNvSpPr/>
          <p:nvPr/>
        </p:nvSpPr>
        <p:spPr>
          <a:xfrm>
            <a:off x="2423160" y="2103120"/>
            <a:ext cx="1188720" cy="1097280"/>
          </a:xfrm>
          <a:prstGeom prst="rect">
            <a:avLst/>
          </a:prstGeom>
          <a:solidFill>
            <a:srgbClr val="D48878"/>
          </a:solidFill>
          <a:ln w="25400">
            <a:solidFill>
              <a:srgbClr val="FFFFFF"/>
            </a:solidFill>
            <a:prstDash val="solid"/>
          </a:ln>
        </p:spPr>
      </p:sp>
      <p:sp>
        <p:nvSpPr>
          <p:cNvPr id="9" name="Shape 6"/>
          <p:cNvSpPr/>
          <p:nvPr/>
        </p:nvSpPr>
        <p:spPr>
          <a:xfrm>
            <a:off x="3611880" y="2103120"/>
            <a:ext cx="1188720" cy="1097280"/>
          </a:xfrm>
          <a:prstGeom prst="rect">
            <a:avLst/>
          </a:prstGeom>
          <a:solidFill>
            <a:srgbClr val="B85042"/>
          </a:solidFill>
          <a:ln w="25400">
            <a:solidFill>
              <a:srgbClr val="FFFFFF"/>
            </a:solidFill>
            <a:prstDash val="solid"/>
          </a:ln>
        </p:spPr>
      </p:sp>
      <p:sp>
        <p:nvSpPr>
          <p:cNvPr id="10" name="Text 7"/>
          <p:cNvSpPr txBox="1"/>
          <p:nvPr/>
        </p:nvSpPr>
        <p:spPr>
          <a:xfrm>
            <a:off x="457200" y="3200400"/>
            <a:ext cx="685800" cy="1097280"/>
          </a:xfrm>
          <a:prstGeom prst="rect">
            <a:avLst/>
          </a:prstGeom>
          <a:noFill/>
          <a:ln/>
        </p:spPr>
        <p:txBody>
          <a:bodyPr wrap="square" lIns="0" tIns="0" rIns="0" bIns="0" rtlCol="0" anchor="ctr"/>
          <a:lstStyle/>
          <a:p>
            <a:pPr algn="r" indent="0" marL="0">
              <a:buNone/>
            </a:pPr>
            <a:r>
              <a:rPr lang="en-US" sz="1000" dirty="0">
                <a:solidFill>
                  <a:schemeClr val="tx2"/>
                </a:solidFill>
              </a:rPr>
              <a:t>Medium</a:t>
            </a:r>
            <a:endParaRPr lang="en-US" sz="1000" dirty="0"/>
          </a:p>
        </p:txBody>
      </p:sp>
      <p:sp>
        <p:nvSpPr>
          <p:cNvPr id="11" name="Shape 8"/>
          <p:cNvSpPr/>
          <p:nvPr/>
        </p:nvSpPr>
        <p:spPr>
          <a:xfrm>
            <a:off x="1234440" y="3200400"/>
            <a:ext cx="1188720" cy="1097280"/>
          </a:xfrm>
          <a:prstGeom prst="rect">
            <a:avLst/>
          </a:prstGeom>
          <a:solidFill>
            <a:srgbClr val="F1D7D0"/>
          </a:solidFill>
          <a:ln w="25400">
            <a:solidFill>
              <a:srgbClr val="FFFFFF"/>
            </a:solidFill>
            <a:prstDash val="solid"/>
          </a:ln>
        </p:spPr>
      </p:sp>
      <p:sp>
        <p:nvSpPr>
          <p:cNvPr id="12" name="Shape 9"/>
          <p:cNvSpPr/>
          <p:nvPr/>
        </p:nvSpPr>
        <p:spPr>
          <a:xfrm>
            <a:off x="2423160" y="3200400"/>
            <a:ext cx="1188720" cy="1097280"/>
          </a:xfrm>
          <a:prstGeom prst="rect">
            <a:avLst/>
          </a:prstGeom>
          <a:solidFill>
            <a:srgbClr val="E4B1A5"/>
          </a:solidFill>
          <a:ln w="25400">
            <a:solidFill>
              <a:srgbClr val="FFFFFF"/>
            </a:solidFill>
            <a:prstDash val="solid"/>
          </a:ln>
        </p:spPr>
      </p:sp>
      <p:sp>
        <p:nvSpPr>
          <p:cNvPr id="13" name="Shape 10"/>
          <p:cNvSpPr/>
          <p:nvPr/>
        </p:nvSpPr>
        <p:spPr>
          <a:xfrm>
            <a:off x="3611880" y="3200400"/>
            <a:ext cx="1188720" cy="1097280"/>
          </a:xfrm>
          <a:prstGeom prst="rect">
            <a:avLst/>
          </a:prstGeom>
          <a:solidFill>
            <a:srgbClr val="D48878"/>
          </a:solidFill>
          <a:ln w="25400">
            <a:solidFill>
              <a:srgbClr val="FFFFFF"/>
            </a:solidFill>
            <a:prstDash val="solid"/>
          </a:ln>
        </p:spPr>
      </p:sp>
      <p:sp>
        <p:nvSpPr>
          <p:cNvPr id="14" name="Text 11"/>
          <p:cNvSpPr txBox="1"/>
          <p:nvPr/>
        </p:nvSpPr>
        <p:spPr>
          <a:xfrm>
            <a:off x="457200" y="4297680"/>
            <a:ext cx="685800" cy="1097280"/>
          </a:xfrm>
          <a:prstGeom prst="rect">
            <a:avLst/>
          </a:prstGeom>
          <a:noFill/>
          <a:ln/>
        </p:spPr>
        <p:txBody>
          <a:bodyPr wrap="square" lIns="0" tIns="0" rIns="0" bIns="0" rtlCol="0" anchor="ctr"/>
          <a:lstStyle/>
          <a:p>
            <a:pPr algn="r" indent="0" marL="0">
              <a:buNone/>
            </a:pPr>
            <a:r>
              <a:rPr lang="en-US" sz="1000" dirty="0">
                <a:solidFill>
                  <a:schemeClr val="tx2"/>
                </a:solidFill>
              </a:rPr>
              <a:t>Low</a:t>
            </a:r>
            <a:endParaRPr lang="en-US" sz="1000" dirty="0"/>
          </a:p>
        </p:txBody>
      </p:sp>
      <p:sp>
        <p:nvSpPr>
          <p:cNvPr id="15" name="Shape 12"/>
          <p:cNvSpPr/>
          <p:nvPr/>
        </p:nvSpPr>
        <p:spPr>
          <a:xfrm>
            <a:off x="1234440" y="4297680"/>
            <a:ext cx="1188720" cy="1097280"/>
          </a:xfrm>
          <a:prstGeom prst="rect">
            <a:avLst/>
          </a:prstGeom>
          <a:solidFill>
            <a:srgbClr val="F9EEEB"/>
          </a:solidFill>
          <a:ln w="25400">
            <a:solidFill>
              <a:srgbClr val="FFFFFF"/>
            </a:solidFill>
            <a:prstDash val="solid"/>
          </a:ln>
        </p:spPr>
      </p:sp>
      <p:sp>
        <p:nvSpPr>
          <p:cNvPr id="16" name="Shape 13"/>
          <p:cNvSpPr/>
          <p:nvPr/>
        </p:nvSpPr>
        <p:spPr>
          <a:xfrm>
            <a:off x="2423160" y="4297680"/>
            <a:ext cx="1188720" cy="1097280"/>
          </a:xfrm>
          <a:prstGeom prst="rect">
            <a:avLst/>
          </a:prstGeom>
          <a:solidFill>
            <a:srgbClr val="F1D7D0"/>
          </a:solidFill>
          <a:ln w="25400">
            <a:solidFill>
              <a:srgbClr val="FFFFFF"/>
            </a:solidFill>
            <a:prstDash val="solid"/>
          </a:ln>
        </p:spPr>
      </p:sp>
      <p:sp>
        <p:nvSpPr>
          <p:cNvPr id="17" name="Shape 14"/>
          <p:cNvSpPr/>
          <p:nvPr/>
        </p:nvSpPr>
        <p:spPr>
          <a:xfrm>
            <a:off x="3611880" y="4297680"/>
            <a:ext cx="1188720" cy="1097280"/>
          </a:xfrm>
          <a:prstGeom prst="rect">
            <a:avLst/>
          </a:prstGeom>
          <a:solidFill>
            <a:srgbClr val="E4B1A5"/>
          </a:solidFill>
          <a:ln w="25400">
            <a:solidFill>
              <a:srgbClr val="FFFFFF"/>
            </a:solidFill>
            <a:prstDash val="solid"/>
          </a:ln>
        </p:spPr>
      </p:sp>
      <p:sp>
        <p:nvSpPr>
          <p:cNvPr id="18" name="Text 15"/>
          <p:cNvSpPr txBox="1"/>
          <p:nvPr/>
        </p:nvSpPr>
        <p:spPr>
          <a:xfrm>
            <a:off x="1234440" y="5440680"/>
            <a:ext cx="1188720" cy="228600"/>
          </a:xfrm>
          <a:prstGeom prst="rect">
            <a:avLst/>
          </a:prstGeom>
          <a:noFill/>
          <a:ln/>
        </p:spPr>
        <p:txBody>
          <a:bodyPr wrap="square" lIns="0" tIns="0" rIns="0" bIns="0" rtlCol="0" anchor="t"/>
          <a:lstStyle/>
          <a:p>
            <a:pPr algn="ctr" indent="0" marL="0">
              <a:buNone/>
            </a:pPr>
            <a:r>
              <a:rPr lang="en-US" sz="1000" dirty="0">
                <a:solidFill>
                  <a:schemeClr val="tx2"/>
                </a:solidFill>
              </a:rPr>
              <a:t>Low</a:t>
            </a:r>
            <a:endParaRPr lang="en-US" sz="1000" dirty="0"/>
          </a:p>
        </p:txBody>
      </p:sp>
      <p:sp>
        <p:nvSpPr>
          <p:cNvPr id="19" name="Text 16"/>
          <p:cNvSpPr txBox="1"/>
          <p:nvPr/>
        </p:nvSpPr>
        <p:spPr>
          <a:xfrm>
            <a:off x="2423160" y="5440680"/>
            <a:ext cx="1188720" cy="228600"/>
          </a:xfrm>
          <a:prstGeom prst="rect">
            <a:avLst/>
          </a:prstGeom>
          <a:noFill/>
          <a:ln/>
        </p:spPr>
        <p:txBody>
          <a:bodyPr wrap="square" lIns="0" tIns="0" rIns="0" bIns="0" rtlCol="0" anchor="t"/>
          <a:lstStyle/>
          <a:p>
            <a:pPr algn="ctr" indent="0" marL="0">
              <a:buNone/>
            </a:pPr>
            <a:r>
              <a:rPr lang="en-US" sz="1000" dirty="0">
                <a:solidFill>
                  <a:schemeClr val="tx2"/>
                </a:solidFill>
              </a:rPr>
              <a:t>Medium</a:t>
            </a:r>
            <a:endParaRPr lang="en-US" sz="1000" dirty="0"/>
          </a:p>
        </p:txBody>
      </p:sp>
      <p:sp>
        <p:nvSpPr>
          <p:cNvPr id="20" name="Text 17"/>
          <p:cNvSpPr txBox="1"/>
          <p:nvPr/>
        </p:nvSpPr>
        <p:spPr>
          <a:xfrm>
            <a:off x="3611880" y="5440680"/>
            <a:ext cx="1188720" cy="228600"/>
          </a:xfrm>
          <a:prstGeom prst="rect">
            <a:avLst/>
          </a:prstGeom>
          <a:noFill/>
          <a:ln/>
        </p:spPr>
        <p:txBody>
          <a:bodyPr wrap="square" lIns="0" tIns="0" rIns="0" bIns="0" rtlCol="0" anchor="t"/>
          <a:lstStyle/>
          <a:p>
            <a:pPr algn="ctr" indent="0" marL="0">
              <a:buNone/>
            </a:pPr>
            <a:r>
              <a:rPr lang="en-US" sz="1000" dirty="0">
                <a:solidFill>
                  <a:schemeClr val="tx2"/>
                </a:solidFill>
              </a:rPr>
              <a:t>High</a:t>
            </a:r>
            <a:endParaRPr lang="en-US" sz="1000" dirty="0"/>
          </a:p>
        </p:txBody>
      </p:sp>
      <p:sp>
        <p:nvSpPr>
          <p:cNvPr id="21" name="Text 18"/>
          <p:cNvSpPr txBox="1"/>
          <p:nvPr/>
        </p:nvSpPr>
        <p:spPr>
          <a:xfrm>
            <a:off x="1234440" y="5687568"/>
            <a:ext cx="3566160" cy="228600"/>
          </a:xfrm>
          <a:prstGeom prst="rect">
            <a:avLst/>
          </a:prstGeom>
          <a:noFill/>
          <a:ln/>
        </p:spPr>
        <p:txBody>
          <a:bodyPr wrap="square" lIns="0" tIns="0" rIns="0" bIns="0" rtlCol="0" anchor="t"/>
          <a:lstStyle/>
          <a:p>
            <a:pPr algn="ctr" indent="0" marL="0">
              <a:buNone/>
            </a:pPr>
            <a:r>
              <a:rPr lang="en-US" sz="1000" b="1" spc="200" kern="0" dirty="0">
                <a:solidFill>
                  <a:schemeClr val="tx2"/>
                </a:solidFill>
              </a:rPr>
              <a:t>IMPACT</a:t>
            </a:r>
            <a:endParaRPr lang="en-US" sz="1000" dirty="0"/>
          </a:p>
        </p:txBody>
      </p:sp>
      <p:sp>
        <p:nvSpPr>
          <p:cNvPr id="22" name="Shape 19"/>
          <p:cNvSpPr/>
          <p:nvPr/>
        </p:nvSpPr>
        <p:spPr>
          <a:xfrm>
            <a:off x="4023360" y="2468880"/>
            <a:ext cx="365760" cy="365760"/>
          </a:xfrm>
          <a:prstGeom prst="ellipse">
            <a:avLst/>
          </a:prstGeom>
          <a:solidFill>
            <a:srgbClr val="FFFFFF"/>
          </a:solidFill>
          <a:ln w="12700">
            <a:solidFill>
              <a:srgbClr val="B85042"/>
            </a:solidFill>
            <a:prstDash val="solid"/>
          </a:ln>
        </p:spPr>
      </p:sp>
      <p:sp>
        <p:nvSpPr>
          <p:cNvPr id="23" name="Text 20"/>
          <p:cNvSpPr txBox="1"/>
          <p:nvPr/>
        </p:nvSpPr>
        <p:spPr>
          <a:xfrm>
            <a:off x="4023360" y="2468880"/>
            <a:ext cx="365760" cy="365760"/>
          </a:xfrm>
          <a:prstGeom prst="rect">
            <a:avLst/>
          </a:prstGeom>
          <a:noFill/>
          <a:ln/>
        </p:spPr>
        <p:txBody>
          <a:bodyPr wrap="square" lIns="0" tIns="0" rIns="0" bIns="0" rtlCol="0" anchor="ctr"/>
          <a:lstStyle/>
          <a:p>
            <a:pPr algn="ctr" indent="0" marL="0">
              <a:buNone/>
            </a:pPr>
            <a:r>
              <a:rPr lang="en-US" sz="1100" b="1" dirty="0">
                <a:solidFill>
                  <a:srgbClr val="B85042"/>
                </a:solidFill>
              </a:rPr>
              <a:t>1</a:t>
            </a:r>
            <a:endParaRPr lang="en-US" sz="1100" dirty="0"/>
          </a:p>
        </p:txBody>
      </p:sp>
      <p:sp>
        <p:nvSpPr>
          <p:cNvPr id="24" name="Shape 21"/>
          <p:cNvSpPr/>
          <p:nvPr/>
        </p:nvSpPr>
        <p:spPr>
          <a:xfrm>
            <a:off x="4023360" y="3566160"/>
            <a:ext cx="365760" cy="365760"/>
          </a:xfrm>
          <a:prstGeom prst="ellipse">
            <a:avLst/>
          </a:prstGeom>
          <a:solidFill>
            <a:srgbClr val="FFFFFF"/>
          </a:solidFill>
          <a:ln w="12700">
            <a:solidFill>
              <a:srgbClr val="B85042"/>
            </a:solidFill>
            <a:prstDash val="solid"/>
          </a:ln>
        </p:spPr>
      </p:sp>
      <p:sp>
        <p:nvSpPr>
          <p:cNvPr id="25" name="Text 22"/>
          <p:cNvSpPr txBox="1"/>
          <p:nvPr/>
        </p:nvSpPr>
        <p:spPr>
          <a:xfrm>
            <a:off x="4023360" y="3566160"/>
            <a:ext cx="365760" cy="365760"/>
          </a:xfrm>
          <a:prstGeom prst="rect">
            <a:avLst/>
          </a:prstGeom>
          <a:noFill/>
          <a:ln/>
        </p:spPr>
        <p:txBody>
          <a:bodyPr wrap="square" lIns="0" tIns="0" rIns="0" bIns="0" rtlCol="0" anchor="ctr"/>
          <a:lstStyle/>
          <a:p>
            <a:pPr algn="ctr" indent="0" marL="0">
              <a:buNone/>
            </a:pPr>
            <a:r>
              <a:rPr lang="en-US" sz="1100" b="1" dirty="0">
                <a:solidFill>
                  <a:srgbClr val="B85042"/>
                </a:solidFill>
              </a:rPr>
              <a:t>2</a:t>
            </a:r>
            <a:endParaRPr lang="en-US" sz="1100" dirty="0"/>
          </a:p>
        </p:txBody>
      </p:sp>
      <p:sp>
        <p:nvSpPr>
          <p:cNvPr id="26" name="Shape 23"/>
          <p:cNvSpPr/>
          <p:nvPr/>
        </p:nvSpPr>
        <p:spPr>
          <a:xfrm>
            <a:off x="4151376" y="3566160"/>
            <a:ext cx="365760" cy="365760"/>
          </a:xfrm>
          <a:prstGeom prst="ellipse">
            <a:avLst/>
          </a:prstGeom>
          <a:solidFill>
            <a:srgbClr val="FFFFFF"/>
          </a:solidFill>
          <a:ln w="12700">
            <a:solidFill>
              <a:srgbClr val="B85042"/>
            </a:solidFill>
            <a:prstDash val="solid"/>
          </a:ln>
        </p:spPr>
      </p:sp>
      <p:sp>
        <p:nvSpPr>
          <p:cNvPr id="27" name="Text 24"/>
          <p:cNvSpPr txBox="1"/>
          <p:nvPr/>
        </p:nvSpPr>
        <p:spPr>
          <a:xfrm>
            <a:off x="4151376" y="3566160"/>
            <a:ext cx="365760" cy="365760"/>
          </a:xfrm>
          <a:prstGeom prst="rect">
            <a:avLst/>
          </a:prstGeom>
          <a:noFill/>
          <a:ln/>
        </p:spPr>
        <p:txBody>
          <a:bodyPr wrap="square" lIns="0" tIns="0" rIns="0" bIns="0" rtlCol="0" anchor="ctr"/>
          <a:lstStyle/>
          <a:p>
            <a:pPr algn="ctr" indent="0" marL="0">
              <a:buNone/>
            </a:pPr>
            <a:r>
              <a:rPr lang="en-US" sz="1100" b="1" dirty="0">
                <a:solidFill>
                  <a:srgbClr val="B85042"/>
                </a:solidFill>
              </a:rPr>
              <a:t>3</a:t>
            </a:r>
            <a:endParaRPr lang="en-US" sz="1100" dirty="0"/>
          </a:p>
        </p:txBody>
      </p:sp>
      <p:sp>
        <p:nvSpPr>
          <p:cNvPr id="28" name="Shape 25"/>
          <p:cNvSpPr/>
          <p:nvPr/>
        </p:nvSpPr>
        <p:spPr>
          <a:xfrm>
            <a:off x="2834640" y="2468880"/>
            <a:ext cx="365760" cy="365760"/>
          </a:xfrm>
          <a:prstGeom prst="ellipse">
            <a:avLst/>
          </a:prstGeom>
          <a:solidFill>
            <a:srgbClr val="FFFFFF"/>
          </a:solidFill>
          <a:ln w="12700">
            <a:solidFill>
              <a:srgbClr val="B85042"/>
            </a:solidFill>
            <a:prstDash val="solid"/>
          </a:ln>
        </p:spPr>
      </p:sp>
      <p:sp>
        <p:nvSpPr>
          <p:cNvPr id="29" name="Text 26"/>
          <p:cNvSpPr txBox="1"/>
          <p:nvPr/>
        </p:nvSpPr>
        <p:spPr>
          <a:xfrm>
            <a:off x="2834640" y="2468880"/>
            <a:ext cx="365760" cy="365760"/>
          </a:xfrm>
          <a:prstGeom prst="rect">
            <a:avLst/>
          </a:prstGeom>
          <a:noFill/>
          <a:ln/>
        </p:spPr>
        <p:txBody>
          <a:bodyPr wrap="square" lIns="0" tIns="0" rIns="0" bIns="0" rtlCol="0" anchor="ctr"/>
          <a:lstStyle/>
          <a:p>
            <a:pPr algn="ctr" indent="0" marL="0">
              <a:buNone/>
            </a:pPr>
            <a:r>
              <a:rPr lang="en-US" sz="1100" b="1" dirty="0">
                <a:solidFill>
                  <a:srgbClr val="B85042"/>
                </a:solidFill>
              </a:rPr>
              <a:t>4</a:t>
            </a:r>
            <a:endParaRPr lang="en-US" sz="1100" dirty="0"/>
          </a:p>
        </p:txBody>
      </p:sp>
      <p:sp>
        <p:nvSpPr>
          <p:cNvPr id="30" name="Shape 27"/>
          <p:cNvSpPr/>
          <p:nvPr/>
        </p:nvSpPr>
        <p:spPr>
          <a:xfrm>
            <a:off x="2834640" y="3566160"/>
            <a:ext cx="365760" cy="365760"/>
          </a:xfrm>
          <a:prstGeom prst="ellipse">
            <a:avLst/>
          </a:prstGeom>
          <a:solidFill>
            <a:srgbClr val="FFFFFF"/>
          </a:solidFill>
          <a:ln w="12700">
            <a:solidFill>
              <a:srgbClr val="B85042"/>
            </a:solidFill>
            <a:prstDash val="solid"/>
          </a:ln>
        </p:spPr>
      </p:sp>
      <p:sp>
        <p:nvSpPr>
          <p:cNvPr id="31" name="Text 28"/>
          <p:cNvSpPr txBox="1"/>
          <p:nvPr/>
        </p:nvSpPr>
        <p:spPr>
          <a:xfrm>
            <a:off x="2834640" y="3566160"/>
            <a:ext cx="365760" cy="365760"/>
          </a:xfrm>
          <a:prstGeom prst="rect">
            <a:avLst/>
          </a:prstGeom>
          <a:noFill/>
          <a:ln/>
        </p:spPr>
        <p:txBody>
          <a:bodyPr wrap="square" lIns="0" tIns="0" rIns="0" bIns="0" rtlCol="0" anchor="ctr"/>
          <a:lstStyle/>
          <a:p>
            <a:pPr algn="ctr" indent="0" marL="0">
              <a:buNone/>
            </a:pPr>
            <a:r>
              <a:rPr lang="en-US" sz="1100" b="1" dirty="0">
                <a:solidFill>
                  <a:srgbClr val="B85042"/>
                </a:solidFill>
              </a:rPr>
              <a:t>5</a:t>
            </a:r>
            <a:endParaRPr lang="en-US" sz="1100" dirty="0"/>
          </a:p>
        </p:txBody>
      </p:sp>
      <p:sp>
        <p:nvSpPr>
          <p:cNvPr id="32" name="Shape 29"/>
          <p:cNvSpPr/>
          <p:nvPr/>
        </p:nvSpPr>
        <p:spPr>
          <a:xfrm>
            <a:off x="2834640" y="4663440"/>
            <a:ext cx="365760" cy="365760"/>
          </a:xfrm>
          <a:prstGeom prst="ellipse">
            <a:avLst/>
          </a:prstGeom>
          <a:solidFill>
            <a:srgbClr val="FFFFFF"/>
          </a:solidFill>
          <a:ln w="12700">
            <a:solidFill>
              <a:srgbClr val="B85042"/>
            </a:solidFill>
            <a:prstDash val="solid"/>
          </a:ln>
        </p:spPr>
      </p:sp>
      <p:sp>
        <p:nvSpPr>
          <p:cNvPr id="33" name="Text 30"/>
          <p:cNvSpPr txBox="1"/>
          <p:nvPr/>
        </p:nvSpPr>
        <p:spPr>
          <a:xfrm>
            <a:off x="2834640" y="4663440"/>
            <a:ext cx="365760" cy="365760"/>
          </a:xfrm>
          <a:prstGeom prst="rect">
            <a:avLst/>
          </a:prstGeom>
          <a:noFill/>
          <a:ln/>
        </p:spPr>
        <p:txBody>
          <a:bodyPr wrap="square" lIns="0" tIns="0" rIns="0" bIns="0" rtlCol="0" anchor="ctr"/>
          <a:lstStyle/>
          <a:p>
            <a:pPr algn="ctr" indent="0" marL="0">
              <a:buNone/>
            </a:pPr>
            <a:r>
              <a:rPr lang="en-US" sz="1100" b="1" dirty="0">
                <a:solidFill>
                  <a:srgbClr val="B85042"/>
                </a:solidFill>
              </a:rPr>
              <a:t>6</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166360" y="1783080"/>
          <a:ext cx="6568135" cy="914400"/>
        </p:xfrm>
        <a:graphic>
          <a:graphicData uri="http://schemas.openxmlformats.org/drawingml/2006/table">
            <a:tbl>
              <a:tblPr/>
              <a:tblGrid>
                <a:gridCol w="365760"/>
                <a:gridCol w="2148840"/>
                <a:gridCol w="1143000"/>
                <a:gridCol w="2240280"/>
                <a:gridCol w="670255"/>
              </a:tblGrid>
              <a:tr h="274320">
                <a:tc>
                  <a:txBody>
                    <a:bodyPr/>
                    <a:lstStyle/>
                    <a:p>
                      <a:pPr indent="0" marL="0">
                        <a:buNone/>
                      </a:pPr>
                      <a:r>
                        <a:rPr lang="en-US" sz="900" b="1" spc="100" kern="0" dirty="0">
                          <a:solidFill>
                            <a:srgbClr val="6B5E5A"/>
                          </a:solidFill>
                        </a:rPr>
                        <a:t>#</a:t>
                      </a:r>
                      <a:endParaRPr lang="en-US" sz="900" dirty="0"/>
                    </a:p>
                  </a:txBody>
                  <a:tcPr marL="73152" marR="73152" marT="36576" marB="36576" anchor="b">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900" b="1" spc="100" kern="0" dirty="0">
                          <a:solidFill>
                            <a:srgbClr val="6B5E5A"/>
                          </a:solidFill>
                        </a:rPr>
                        <a:t>RISK</a:t>
                      </a:r>
                      <a:endParaRPr lang="en-US" sz="900" dirty="0"/>
                    </a:p>
                  </a:txBody>
                  <a:tcPr marL="73152" marR="73152" marT="36576" marB="36576" anchor="b">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900" b="1" spc="100" kern="0" dirty="0">
                          <a:solidFill>
                            <a:srgbClr val="6B5E5A"/>
                          </a:solidFill>
                        </a:rPr>
                        <a:t>OWNER</a:t>
                      </a:r>
                      <a:endParaRPr lang="en-US" sz="900" dirty="0"/>
                    </a:p>
                  </a:txBody>
                  <a:tcPr marL="73152" marR="73152" marT="36576" marB="36576" anchor="b">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900" b="1" spc="100" kern="0" dirty="0">
                          <a:solidFill>
                            <a:srgbClr val="6B5E5A"/>
                          </a:solidFill>
                        </a:rPr>
                        <a:t>MITIGATION</a:t>
                      </a:r>
                      <a:endParaRPr lang="en-US" sz="900" dirty="0"/>
                    </a:p>
                  </a:txBody>
                  <a:tcPr marL="73152" marR="73152" marT="36576" marB="36576" anchor="b">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900" b="1" spc="100" kern="0" dirty="0">
                          <a:solidFill>
                            <a:srgbClr val="6B5E5A"/>
                          </a:solidFill>
                        </a:rPr>
                        <a:t>TREND</a:t>
                      </a:r>
                      <a:endParaRPr lang="en-US" sz="900" dirty="0"/>
                    </a:p>
                  </a:txBody>
                  <a:tcPr marL="73152" marR="73152" marT="36576" marB="36576" anchor="b">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512064">
                <a:tc>
                  <a:txBody>
                    <a:bodyPr/>
                    <a:lstStyle/>
                    <a:p>
                      <a:pPr algn="ctr" indent="0" marL="0">
                        <a:buNone/>
                      </a:pPr>
                      <a:r>
                        <a:rPr lang="en-US" sz="1100" b="1" dirty="0">
                          <a:solidFill>
                            <a:srgbClr val="B85042"/>
                          </a:solidFill>
                        </a:rPr>
                        <a:t>1</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2B211F"/>
                          </a:solidFill>
                        </a:rPr>
                        <a:t>Card delinquency deteriorating in the 2024 vintage</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Chief Credit Officer</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Line increases paused; collections capacity +40 FTE by December</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B3261E"/>
                          </a:solidFill>
                        </a:rPr>
                        <a:t>▲ </a:t>
                      </a:r>
                      <a:pPr indent="0" marL="0">
                        <a:buNone/>
                      </a:pPr>
                      <a:r>
                        <a:rPr lang="en-US" sz="1100" dirty="0">
                          <a:solidFill>
                            <a:srgbClr val="6B5E5A"/>
                          </a:solidFill>
                        </a:rPr>
                        <a:t>Rising</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512064">
                <a:tc>
                  <a:txBody>
                    <a:bodyPr/>
                    <a:lstStyle/>
                    <a:p>
                      <a:pPr algn="ctr" indent="0" marL="0">
                        <a:buNone/>
                      </a:pPr>
                      <a:r>
                        <a:rPr lang="en-US" sz="1100" b="1" dirty="0">
                          <a:solidFill>
                            <a:srgbClr val="B85042"/>
                          </a:solidFill>
                        </a:rPr>
                        <a:t>2</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2B211F"/>
                          </a:solidFill>
                        </a:rPr>
                        <a:t>Deposit outflow to money-market funds and brokerage</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Head of Deposits</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Rate-match playbook; retention offers for balances over $250k</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6B5E5A"/>
                          </a:solidFill>
                        </a:rPr>
                        <a:t>► </a:t>
                      </a:r>
                      <a:pPr indent="0" marL="0">
                        <a:buNone/>
                      </a:pPr>
                      <a:r>
                        <a:rPr lang="en-US" sz="1100" dirty="0">
                          <a:solidFill>
                            <a:srgbClr val="6B5E5A"/>
                          </a:solidFill>
                        </a:rPr>
                        <a:t>Stable</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512064">
                <a:tc>
                  <a:txBody>
                    <a:bodyPr/>
                    <a:lstStyle/>
                    <a:p>
                      <a:pPr algn="ctr" indent="0" marL="0">
                        <a:buNone/>
                      </a:pPr>
                      <a:r>
                        <a:rPr lang="en-US" sz="1100" b="1" dirty="0">
                          <a:solidFill>
                            <a:srgbClr val="B85042"/>
                          </a:solidFill>
                        </a:rPr>
                        <a:t>3</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2B211F"/>
                          </a:solidFill>
                        </a:rPr>
                        <a:t>Core deposits migration cutover slips past Q4</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CIO, Consumer</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Second dress rehearsal 17 Oct; go / no-go decision 24 Oct</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B3261E"/>
                          </a:solidFill>
                        </a:rPr>
                        <a:t>▲ </a:t>
                      </a:r>
                      <a:pPr indent="0" marL="0">
                        <a:buNone/>
                      </a:pPr>
                      <a:r>
                        <a:rPr lang="en-US" sz="1100" dirty="0">
                          <a:solidFill>
                            <a:srgbClr val="6B5E5A"/>
                          </a:solidFill>
                        </a:rPr>
                        <a:t>Rising</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512064">
                <a:tc>
                  <a:txBody>
                    <a:bodyPr/>
                    <a:lstStyle/>
                    <a:p>
                      <a:pPr algn="ctr" indent="0" marL="0">
                        <a:buNone/>
                      </a:pPr>
                      <a:r>
                        <a:rPr lang="en-US" sz="1100" b="1" dirty="0">
                          <a:solidFill>
                            <a:srgbClr val="B85042"/>
                          </a:solidFill>
                        </a:rPr>
                        <a:t>4</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2B211F"/>
                          </a:solidFill>
                        </a:rPr>
                        <a:t>Authorised push payment fraud losses above budget</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Head of Fraud</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Confirmation-of-payee live in November; limits on new payees</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6B5E5A"/>
                          </a:solidFill>
                        </a:rPr>
                        <a:t>► </a:t>
                      </a:r>
                      <a:pPr indent="0" marL="0">
                        <a:buNone/>
                      </a:pPr>
                      <a:r>
                        <a:rPr lang="en-US" sz="1100" dirty="0">
                          <a:solidFill>
                            <a:srgbClr val="6B5E5A"/>
                          </a:solidFill>
                        </a:rPr>
                        <a:t>Stable</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512064">
                <a:tc>
                  <a:txBody>
                    <a:bodyPr/>
                    <a:lstStyle/>
                    <a:p>
                      <a:pPr algn="ctr" indent="0" marL="0">
                        <a:buNone/>
                      </a:pPr>
                      <a:r>
                        <a:rPr lang="en-US" sz="1100" b="1" dirty="0">
                          <a:solidFill>
                            <a:srgbClr val="B85042"/>
                          </a:solidFill>
                        </a:rPr>
                        <a:t>5</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2B211F"/>
                          </a:solidFill>
                        </a:rPr>
                        <a:t>Overdraft fee rule change reduces fee income</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Head of Products</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Grace-period product designed; $18m revenue at risk sized</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6B5E5A"/>
                          </a:solidFill>
                        </a:rPr>
                        <a:t>► </a:t>
                      </a:r>
                      <a:pPr indent="0" marL="0">
                        <a:buNone/>
                      </a:pPr>
                      <a:r>
                        <a:rPr lang="en-US" sz="1100" dirty="0">
                          <a:solidFill>
                            <a:srgbClr val="6B5E5A"/>
                          </a:solidFill>
                        </a:rPr>
                        <a:t>Stable</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512064">
                <a:tc>
                  <a:txBody>
                    <a:bodyPr/>
                    <a:lstStyle/>
                    <a:p>
                      <a:pPr algn="ctr" indent="0" marL="0">
                        <a:buNone/>
                      </a:pPr>
                      <a:r>
                        <a:rPr lang="en-US" sz="1100" b="1" dirty="0">
                          <a:solidFill>
                            <a:srgbClr val="B85042"/>
                          </a:solidFill>
                        </a:rPr>
                        <a:t>6</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2B211F"/>
                          </a:solidFill>
                        </a:rPr>
                        <a:t>Attrition of key staff in collections</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Head of Operations</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6B5E5A"/>
                          </a:solidFill>
                        </a:rPr>
                        <a:t>Retention awards approved; cross-training plan in place</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006300"/>
                          </a:solidFill>
                        </a:rPr>
                        <a:t>▼ </a:t>
                      </a:r>
                      <a:pPr indent="0" marL="0">
                        <a:buNone/>
                      </a:pPr>
                      <a:r>
                        <a:rPr lang="en-US" sz="1100" dirty="0">
                          <a:solidFill>
                            <a:srgbClr val="6B5E5A"/>
                          </a:solidFill>
                        </a:rPr>
                        <a:t>Falling</a:t>
                      </a:r>
                      <a:endParaRPr lang="en-US" sz="1100" dirty="0"/>
                    </a:p>
                  </a:txBody>
                  <a:tcPr marL="73152" marR="73152" marT="36576" marB="36576" anchor="ctr">
                    <a:lnL w="0" cap="flat" cmpd="sng" algn="ctr">
                      <a:noFill/>
                    </a:lnL>
                    <a:lnR w="0" cap="flat" cmpd="sng" algn="ctr">
                      <a:noFill/>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bl>
          </a:graphicData>
        </a:graphic>
      </p:graphicFrame>
      <p:sp>
        <p:nvSpPr>
          <p:cNvPr id="35" name="Text 31"/>
          <p:cNvSpPr txBox="1"/>
          <p:nvPr/>
        </p:nvSpPr>
        <p:spPr>
          <a:xfrm>
            <a:off x="5166360" y="5440680"/>
            <a:ext cx="6568135" cy="548640"/>
          </a:xfrm>
          <a:prstGeom prst="rect">
            <a:avLst/>
          </a:prstGeom>
          <a:noFill/>
          <a:ln/>
        </p:spPr>
        <p:txBody>
          <a:bodyPr wrap="square" lIns="0" tIns="0" rIns="0" bIns="0" rtlCol="0" anchor="t"/>
          <a:lstStyle/>
          <a:p>
            <a:pPr algn="l" indent="0" marL="0">
              <a:buNone/>
            </a:pPr>
            <a:r>
              <a:rPr lang="en-US" sz="1100" dirty="0">
                <a:solidFill>
                  <a:schemeClr val="tx2"/>
                </a:solidFill>
              </a:rPr>
              <a:t>Rating = likelihood × impact; darker cell = higher severity. Trend is versus last quarter. High-rated risks (1 and 3) have a named executive sponsor and are reviewed monthly.</a:t>
            </a:r>
            <a:endParaRPr lang="en-US" sz="1100" dirty="0"/>
          </a:p>
        </p:txBody>
      </p:sp>
    </p:spTree>
  </p:cSld>
  <p:clrMapOvr>
    <a:masterClrMapping/>
  </p:clrMapOvr>
</p:sld>
</file>

<file path=ppt/theme/theme1.xml><?xml version="1.0" encoding="utf-8"?>
<a:theme xmlns:a="http://schemas.openxmlformats.org/drawingml/2006/main" name="Terracotta">
  <a:themeElements>
    <a:clrScheme name="Terracotta">
      <a:dk1>
        <a:srgbClr val="2B211F"/>
      </a:dk1>
      <a:lt1>
        <a:srgbClr val="FFFFFF"/>
      </a:lt1>
      <a:dk2>
        <a:srgbClr val="6B5E5A"/>
      </a:dk2>
      <a:lt2>
        <a:srgbClr val="F4F1EA"/>
      </a:lt2>
      <a:accent1>
        <a:srgbClr val="B85042"/>
      </a:accent1>
      <a:accent2>
        <a:srgbClr val="E7E8D1"/>
      </a:accent2>
      <a:accent3>
        <a:srgbClr val="A7BEAE"/>
      </a:accent3>
      <a:accent4>
        <a:srgbClr val="D9897C"/>
      </a:accent4>
      <a:accent5>
        <a:srgbClr val="7A4A42"/>
      </a:accent5>
      <a:accent6>
        <a:srgbClr val="5B7B6B"/>
      </a:accent6>
      <a:hlink>
        <a:srgbClr val="B85042"/>
      </a:hlink>
      <a:folHlink>
        <a:srgbClr val="6B5E5A"/>
      </a:folHlink>
    </a:clrScheme>
    <a:fontScheme name="Terracot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Consumer Banking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risks to the Consumer Banking plan: two are rated high and need executive attention this quarter</dc:title>
  <dc:subject>One-slide manager report template</dc:subject>
  <dc:creator>Consumer Banking</dc:creator>
  <cp:lastModifiedBy>Consumer Banking</cp:lastModifiedBy>
  <cp:revision>1</cp:revision>
  <dcterms:created xsi:type="dcterms:W3CDTF">2026-10-05T12:54:21Z</dcterms:created>
  <dcterms:modified xsi:type="dcterms:W3CDTF">2026-10-05T12:54:21Z</dcterms:modified>
</cp:coreProperties>
</file>