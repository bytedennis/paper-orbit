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hart-led insight" id="{6d5ec853-cb8d-1f68-b233-b29d0e0727c3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100" b="0" i="0" u="none" strike="noStrike">
                <a:solidFill>
                  <a:srgbClr val="1C2B1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C2B1D"/>
                </a:solidFill>
                <a:latin typeface="+mn-lt"/>
              </a:rPr>
              <a:t>Transactions per quarter, millions — digital share 72% → 78%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 (app + web)</c:v>
                </c:pt>
              </c:strCache>
            </c:strRef>
          </c:tx>
          <c:spPr>
            <a:solidFill>
              <a:srgbClr val="23863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F6F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Q3 2025</c:v>
                  </c:pt>
                  <c:pt idx="1">
                    <c:v>Q4 2025</c:v>
                  </c:pt>
                  <c:pt idx="2">
                    <c:v>Q1 2026</c:v>
                  </c:pt>
                  <c:pt idx="3">
                    <c:v>Q2 2026</c:v>
                  </c:pt>
                  <c:pt idx="4">
                    <c:v>Q3 2026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61.2</c:v>
                </c:pt>
                <c:pt idx="1">
                  <c:v>64.8</c:v>
                </c:pt>
                <c:pt idx="2">
                  <c:v>67.5</c:v>
                </c:pt>
                <c:pt idx="3">
                  <c:v>71</c:v>
                </c:pt>
                <c:pt idx="4">
                  <c:v>74.3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Branch</c:v>
                </c:pt>
              </c:strCache>
            </c:strRef>
          </c:tx>
          <c:spPr>
            <a:solidFill>
              <a:srgbClr val="B0B7B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F6F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Q3 2025</c:v>
                  </c:pt>
                  <c:pt idx="1">
                    <c:v>Q4 2025</c:v>
                  </c:pt>
                  <c:pt idx="2">
                    <c:v>Q1 2026</c:v>
                  </c:pt>
                  <c:pt idx="3">
                    <c:v>Q2 2026</c:v>
                  </c:pt>
                  <c:pt idx="4">
                    <c:v>Q3 2026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24.1</c:v>
                </c:pt>
                <c:pt idx="1">
                  <c:v>23</c:v>
                </c:pt>
                <c:pt idx="2">
                  <c:v>22.4</c:v>
                </c:pt>
                <c:pt idx="3">
                  <c:v>21.9</c:v>
                </c:pt>
                <c:pt idx="4">
                  <c:v>21.4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5F6F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3C2B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F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1E0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F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F6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Chart-led insight (consulting style). One chart, one message. The series that carries the message is coloured; the comparison series is grey. Three takeaways on the right say what the chart means, not what it shows, and the last line names the next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NE_PAG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Action title: the one sentence you want remembered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Period · audience · owner · date</a:t>
            </a:r>
            <a:endParaRPr lang="en-US" sz="1200" dirty="0"/>
          </a:p>
        </p:txBody>
      </p:sp>
      <p:sp>
        <p:nvSpPr>
          <p:cNvPr id="4" name="Text 0"/>
          <p:cNvSpPr txBox="1"/>
          <p:nvPr/>
        </p:nvSpPr>
        <p:spPr>
          <a:xfrm>
            <a:off x="457200" y="64465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All figures are illustrative and for template use only  ·  Consumer Banking  ·  Replace with actuals before distribution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Digital now handles three of every four everyday transactions; branch volumes fell 11% in a year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Transaction channel mix, Q3 2025 – Q3 2026  ·  Monthly business review  ·  Source: Channel MI (illustrative)  ·  Transactions = payments, transfers, deposits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83080"/>
          <a:ext cx="694944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726680" y="1783080"/>
            <a:ext cx="40078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WHAT THIS MEANS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7726680" y="219456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2668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8229600" y="2176272"/>
            <a:ext cx="3504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Digital share reached 78% in Q3 (72% a year ago); app logins per active customer are up 9%.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726680" y="333756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2668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229600" y="3319272"/>
            <a:ext cx="3504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Branch volumes fell 11% YoY while footfall-based staffing stayed flat — the consolidation case is stronger than when it was approved.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726680" y="448056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726680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8229600" y="4462272"/>
            <a:ext cx="3504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Cash and cheque deposits are the remaining branch-only tasks; ITM upgrades in 22 sites would cover 85% of that volume.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5715000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Next step: </a:t>
            </a:r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bring the ITM business case to the November investment committee.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orest">
  <a:themeElements>
    <a:clrScheme name="Forest">
      <a:dk1>
        <a:srgbClr val="1C2B1D"/>
      </a:dk1>
      <a:lt1>
        <a:srgbClr val="FFFFFF"/>
      </a:lt1>
      <a:dk2>
        <a:srgbClr val="5F6F60"/>
      </a:dk2>
      <a:lt2>
        <a:srgbClr val="F1F5EC"/>
      </a:lt2>
      <a:accent1>
        <a:srgbClr val="238636"/>
      </a:accent1>
      <a:accent2>
        <a:srgbClr val="97BC62"/>
      </a:accent2>
      <a:accent3>
        <a:srgbClr val="2C5F2D"/>
      </a:accent3>
      <a:accent4>
        <a:srgbClr val="C8DBB0"/>
      </a:accent4>
      <a:accent5>
        <a:srgbClr val="3F7A40"/>
      </a:accent5>
      <a:accent6>
        <a:srgbClr val="A96E2B"/>
      </a:accent6>
      <a:hlink>
        <a:srgbClr val="238636"/>
      </a:hlink>
      <a:folHlink>
        <a:srgbClr val="5F6F60"/>
      </a:folHlink>
    </a:clrScheme>
    <a:fontScheme name="Fores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Consumer Banking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now handles three of every four everyday transactions; branch volumes fell 11% in a year</dc:title>
  <dc:subject>One-slide manager report template</dc:subject>
  <dc:creator>Consumer Banking</dc:creator>
  <cp:lastModifiedBy>Consumer Banking</cp:lastModifiedBy>
  <cp:revision>1</cp:revision>
  <dcterms:created xsi:type="dcterms:W3CDTF">2026-10-05T12:54:21Z</dcterms:created>
  <dcterms:modified xsi:type="dcterms:W3CDTF">2026-10-05T12:54:21Z</dcterms:modified>
</cp:coreProperties>
</file>