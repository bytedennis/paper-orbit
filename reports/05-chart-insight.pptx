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t-led insight" id="{cffd0ce6-5fdf-70d9-87da-b96d23be9947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1C2B1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C2B1D"/>
                </a:solidFill>
                <a:latin typeface="+mn-lt"/>
              </a:rPr>
              <a:t>Transactions per quarter, millions — digital share 72% → 78%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(app + web)</c:v>
                </c:pt>
              </c:strCache>
            </c:strRef>
          </c:tx>
          <c:spPr>
            <a:solidFill>
              <a:srgbClr val="23863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F6F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  <c:pt idx="4">
                    <c:v>Q3 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61.2</c:v>
                </c:pt>
                <c:pt idx="1">
                  <c:v>64.8</c:v>
                </c:pt>
                <c:pt idx="2">
                  <c:v>67.5</c:v>
                </c:pt>
                <c:pt idx="3">
                  <c:v>71</c:v>
                </c:pt>
                <c:pt idx="4">
                  <c:v>74.3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Branch</c:v>
                </c:pt>
              </c:strCache>
            </c:strRef>
          </c:tx>
          <c:spPr>
            <a:solidFill>
              <a:srgbClr val="B0B7B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F6F6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Q3 2025</c:v>
                  </c:pt>
                  <c:pt idx="1">
                    <c:v>Q4 2025</c:v>
                  </c:pt>
                  <c:pt idx="2">
                    <c:v>Q1 2026</c:v>
                  </c:pt>
                  <c:pt idx="3">
                    <c:v>Q2 2026</c:v>
                  </c:pt>
                  <c:pt idx="4">
                    <c:v>Q3 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24.1</c:v>
                </c:pt>
                <c:pt idx="1">
                  <c:v>23</c:v>
                </c:pt>
                <c:pt idx="2">
                  <c:v>22.4</c:v>
                </c:pt>
                <c:pt idx="3">
                  <c:v>21.9</c:v>
                </c:pt>
                <c:pt idx="4">
                  <c:v>21.4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5F6F6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F6F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Chart-led insight (consulting style). One chart, one message. The series that carries the message is coloured; the comparison series is grey. Three takeaways on the right say what the chart means, not what it shows, and the last line names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Digital now handles three of every four everyday transactions; branch volumes fell 11% in a year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Transaction channel mix, Q3 2025 – Q3 2026  ·  Monthly business review  ·  Source: Channel MI (illustrative)  ·  Transactions = payments, transfers, deposits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6949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26680" y="1783080"/>
            <a:ext cx="40078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3"/>
                </a:solidFill>
              </a:rPr>
              <a:t>WHAT THIS MEANS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7726680" y="21945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26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2176272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Digital share reached 78% in Q3 (72% a year ago); app logins per active customer are up 9%.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726680" y="33375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266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8229600" y="3319272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Branch volumes fell 11% YoY while footfall-based staffing stayed flat — the consolidation case is stronger than when it was approved.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26680" y="448056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726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0" y="4462272"/>
            <a:ext cx="3504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Cash and cheque deposits are the remaining branch-only tasks; ITM upgrades in 22 sites would cover 85% of that volume.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5715000"/>
            <a:ext cx="400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Next step: </a:t>
            </a:r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bring the ITM business case to the November investment committee.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st">
  <a:themeElements>
    <a:clrScheme name="Forest">
      <a:dk1>
        <a:srgbClr val="1C2B1D"/>
      </a:dk1>
      <a:lt1>
        <a:srgbClr val="FFFFFF"/>
      </a:lt1>
      <a:dk2>
        <a:srgbClr val="5F6F60"/>
      </a:dk2>
      <a:lt2>
        <a:srgbClr val="F1F5EC"/>
      </a:lt2>
      <a:accent1>
        <a:srgbClr val="238636"/>
      </a:accent1>
      <a:accent2>
        <a:srgbClr val="97BC62"/>
      </a:accent2>
      <a:accent3>
        <a:srgbClr val="2C5F2D"/>
      </a:accent3>
      <a:accent4>
        <a:srgbClr val="C8DBB0"/>
      </a:accent4>
      <a:accent5>
        <a:srgbClr val="3F7A40"/>
      </a:accent5>
      <a:accent6>
        <a:srgbClr val="A96E2B"/>
      </a:accent6>
      <a:hlink>
        <a:srgbClr val="238636"/>
      </a:hlink>
      <a:folHlink>
        <a:srgbClr val="5F6F60"/>
      </a:folHlink>
    </a:clrScheme>
    <a:fontScheme name="Fores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now handles three of every four everyday transactions; branch volumes fell 11% in a year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