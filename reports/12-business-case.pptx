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usiness case" id="{cbf57d32-0982-1fba-4d10-5eb621a936fd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100" b="0" i="0" u="none" strike="noStrike">
                <a:solidFill>
                  <a:srgbClr val="1D1D1D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D1D1D"/>
                </a:solidFill>
                <a:latin typeface="+mn-lt"/>
              </a:rPr>
              <a:t>Cumulative net cash flow, $m — break-even in Q7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net cash flow</c:v>
                </c:pt>
              </c:strCache>
            </c:strRef>
          </c:tx>
          <c:spPr>
            <a:solidFill>
              <a:srgbClr val="2F3C7E"/>
            </a:solidFill>
            <a:effectLst/>
          </c:spPr>
          <c:invertIfNegative val="0"/>
          <c:dLbls>
            <c:numFmt formatCode="+0.0;-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C5C5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B8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B8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B8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B8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8B8B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8B8B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  <c:pt idx="5">
                    <c:v>Q6</c:v>
                  </c:pt>
                  <c:pt idx="6">
                    <c:v>Q7</c:v>
                  </c:pt>
                  <c:pt idx="7">
                    <c:v>Q8</c:v>
                  </c:pt>
                  <c:pt idx="8">
                    <c:v>Q9</c:v>
                  </c:pt>
                  <c:pt idx="9">
                    <c:v>Q10</c:v>
                  </c:pt>
                  <c:pt idx="10">
                    <c:v>Q11</c:v>
                  </c:pt>
                  <c:pt idx="11">
                    <c:v>Q12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-1.6</c:v>
                </c:pt>
                <c:pt idx="1">
                  <c:v>-3</c:v>
                </c:pt>
                <c:pt idx="2">
                  <c:v>-3.4</c:v>
                </c:pt>
                <c:pt idx="3">
                  <c:v>-3.1</c:v>
                </c:pt>
                <c:pt idx="4">
                  <c:v>-1.7</c:v>
                </c:pt>
                <c:pt idx="5">
                  <c:v>-0.4</c:v>
                </c:pt>
                <c:pt idx="6">
                  <c:v>1</c:v>
                </c:pt>
                <c:pt idx="7">
                  <c:v>2.4</c:v>
                </c:pt>
                <c:pt idx="8">
                  <c:v>3.8</c:v>
                </c:pt>
                <c:pt idx="9">
                  <c:v>5.2</c:v>
                </c:pt>
                <c:pt idx="10">
                  <c:v>6.5</c:v>
                </c:pt>
                <c:pt idx="11">
                  <c:v>7.9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b="0" i="0" strike="noStrike" sz="1000" u="none">
                  <a:solidFill>
                    <a:srgbClr val="5C5C5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3C2B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-4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case one-pager. Four headline numbers a committee asks for first, a cumulative cash-flow chart that shows break-even, then benefits with their arithmetic, the assumptions the case depends on, the risks with mitigations, and the precise decision requested.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_PAG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Action title: the one sentence you want remembered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Period · audience · owner · date</a:t>
            </a:r>
            <a:endParaRPr lang="en-US" sz="12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64465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All figures are illustrative and for template use only  ·  Consumer Banking  ·  Replace with actuals before distribution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Proposal: automate early-stage card collections outreach — $4.8m investment, 19-month payback, $6.1m NPV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Business case one-pager  ·  Investment Committee pre-read  ·  Sponsor: Head of Consumer Banking  ·  Decision requested: Phase 1 funding by 31 October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783080"/>
            <a:ext cx="2647874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874520"/>
            <a:ext cx="22821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Investment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12264"/>
            <a:ext cx="22821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$4.8m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551176"/>
            <a:ext cx="22821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over 12 months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3674" y="1783080"/>
            <a:ext cx="2647874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516554" y="1874520"/>
            <a:ext cx="22821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Run-rate benefit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516554" y="2112264"/>
            <a:ext cx="22821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$5.5m p.a.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3516554" y="2551176"/>
            <a:ext cx="22821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from month 13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10148" y="1783080"/>
            <a:ext cx="2647874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93028" y="1874520"/>
            <a:ext cx="22821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Payback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393028" y="2112264"/>
            <a:ext cx="22821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19 months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393028" y="2551176"/>
            <a:ext cx="22821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from project start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086621" y="1783080"/>
            <a:ext cx="2647874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269501" y="1874520"/>
            <a:ext cx="22821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3-year NPV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269501" y="2112264"/>
            <a:ext cx="22821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$6.1m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9269501" y="2551176"/>
            <a:ext cx="22821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at a 9% hurdle rate</a:t>
            </a:r>
            <a:endParaRPr lang="en-US" sz="10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" y="3063240"/>
          <a:ext cx="585216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6629400" y="3063240"/>
            <a:ext cx="5105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BENEFITS ($5.5M RUN-RATE)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6629400" y="3310128"/>
            <a:ext cx="510509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Lower roll-to-loss: −10 bps charge-off rate on the $6.2bn card book — $3.1m</a:t>
            </a:r>
            <a:endParaRPr lang="en-US" sz="115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Collector productivity +22% through automated early contact — $1.6m</a:t>
            </a:r>
            <a:endParaRPr lang="en-US" sz="115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Fewer complaints and manual letters — $0.8m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6629400" y="4069080"/>
            <a:ext cx="5105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KEY ASSUMPTIONS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6629400" y="4315968"/>
            <a:ext cx="5105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Contact rate rises from 31% to 48% (vendor benchmark 52%)</a:t>
            </a:r>
            <a:endParaRPr lang="en-US" sz="115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No change to regulatory contact-frequency limits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6629400" y="4873752"/>
            <a:ext cx="5105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RISKS AND MITIGATIONS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6629400" y="5120640"/>
            <a:ext cx="510509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Vendor delivery slip → contractual penalties and a phased go-live</a:t>
            </a:r>
            <a:endParaRPr lang="en-US" sz="1150" dirty="0"/>
          </a:p>
          <a:p>
            <a:pPr algn="l"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Fairness → Compliance-approved scripts and a pre-launch conduct review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629400" y="5550408"/>
            <a:ext cx="5105095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812280" y="5623560"/>
            <a:ext cx="4739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Decision requested: 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approve Phase 1 funding of $1.9m (design and vendor selection) by 31 October; Phase 2 is subject to pilot results in February.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erry">
  <a:themeElements>
    <a:clrScheme name="Cherry">
      <a:dk1>
        <a:srgbClr val="1D1D1D"/>
      </a:dk1>
      <a:lt1>
        <a:srgbClr val="FFFFFF"/>
      </a:lt1>
      <a:dk2>
        <a:srgbClr val="5C5C5C"/>
      </a:dk2>
      <a:lt2>
        <a:srgbClr val="FCF6F5"/>
      </a:lt2>
      <a:accent1>
        <a:srgbClr val="990011"/>
      </a:accent1>
      <a:accent2>
        <a:srgbClr val="2F3C7E"/>
      </a:accent2>
      <a:accent3>
        <a:srgbClr val="C85A5A"/>
      </a:accent3>
      <a:accent4>
        <a:srgbClr val="E8B4B8"/>
      </a:accent4>
      <a:accent5>
        <a:srgbClr val="6B0B14"/>
      </a:accent5>
      <a:accent6>
        <a:srgbClr val="3A7D44"/>
      </a:accent6>
      <a:hlink>
        <a:srgbClr val="990011"/>
      </a:hlink>
      <a:folHlink>
        <a:srgbClr val="5C5C5C"/>
      </a:folHlink>
    </a:clrScheme>
    <a:fontScheme name="Cherr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Consumer Banking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Proposal: automate early-stage card collections outreach — $4.8m investment, 19-month payback, $6.1m NPV</dc:title>
  <dc:subject>One-slide manager report template</dc:subject>
  <dc:creator>Consumer Banking</dc:creator>
  <cp:lastModifiedBy>Consumer Banking</cp:lastModifiedBy>
  <cp:revision>1</cp:revision>
  <dcterms:created xsi:type="dcterms:W3CDTF">2026-10-05T12:57:55Z</dcterms:created>
  <dcterms:modified xsi:type="dcterms:W3CDTF">2026-10-05T12:57:55Z</dcterms:modified>
</cp:coreProperties>
</file>