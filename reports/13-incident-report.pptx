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cident report" id="{79353be9-2d97-0265-0ab7-2fb4a47699ff}">
          <p14:sldIdLst>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Incident report (dark). Four facts a manager needs before anything else, a timeline from alert to close, root cause and customer impact in plain words, and the remediation actions with owner, date and status. The title carries the outcome so the reader is not left wondering whether it is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NE_PAGER">
    <p:bg>
      <p:bgPr>
        <a:solidFill>
          <a:srgbClr val="232323"/>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91440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r>
              <a:rPr lang="en-US" sz="2800" b="1" dirty="0">
                <a:solidFill>
                  <a:schemeClr val="tx1"/>
                </a:solidFill>
              </a:rPr>
              <a:t>Action title: the one sentence you want remembered</a:t>
            </a:r>
            <a:endParaRPr lang="en-US" sz="2800" dirty="0"/>
          </a:p>
        </p:txBody>
      </p:sp>
      <p:sp>
        <p:nvSpPr>
          <p:cNvPr id="3" name="Text 0"/>
          <p:cNvSpPr/>
          <p:nvPr>
            <p:ph idx="101" type="body" hasCustomPrompt="1"/>
          </p:nvPr>
        </p:nvSpPr>
        <p:spPr>
          <a:xfrm>
            <a:off x="457200" y="1280160"/>
            <a:ext cx="11277295" cy="320040"/>
          </a:xfrm>
          <a:prstGeom prst="rect">
            <a:avLst/>
          </a:prstGeom>
          <a:noFill/>
          <a:ln/>
        </p:spPr>
        <p:txBody>
          <a:bodyPr wrap="square" rtlCol="0"/>
          <a:lstStyle>
            <a:lvl1pPr algn="l" indent="0" marL="0">
              <a:buNone/>
              <a:defRPr lang="en-US" sz="1200" dirty="0">
                <a:solidFill>
                  <a:schemeClr val="tx2"/>
                </a:solidFill>
              </a:defRPr>
            </a:lvl1pPr>
          </a:lstStyle>
          <a:p>
            <a:pPr algn="l" indent="0" marL="0">
              <a:buNone/>
            </a:pPr>
            <a:r>
              <a:rPr lang="en-US" sz="1200" dirty="0">
                <a:solidFill>
                  <a:schemeClr val="tx2"/>
                </a:solidFill>
              </a:rPr>
              <a:t>Period · audience · owner · date</a:t>
            </a:r>
            <a:endParaRPr lang="en-US" sz="1200" dirty="0"/>
          </a:p>
        </p:txBody>
      </p:sp>
      <p:sp>
        <p:nvSpPr>
          <p:cNvPr id="4" name="Text 0"/>
          <p:cNvSpPr txBox="1"/>
          <p:nvPr/>
        </p:nvSpPr>
        <p:spPr>
          <a:xfrm>
            <a:off x="457200" y="6446520"/>
            <a:ext cx="11277295" cy="256032"/>
          </a:xfrm>
          <a:prstGeom prst="rect">
            <a:avLst/>
          </a:prstGeom>
          <a:noFill/>
          <a:ln/>
        </p:spPr>
        <p:txBody>
          <a:bodyPr wrap="square" lIns="0" tIns="0" rIns="0" bIns="0" rtlCol="0" anchor="ctr"/>
          <a:lstStyle/>
          <a:p>
            <a:pPr algn="l" indent="0" marL="0">
              <a:buNone/>
            </a:pPr>
            <a:r>
              <a:rPr lang="en-US" sz="1000" dirty="0">
                <a:solidFill>
                  <a:schemeClr val="tx2"/>
                </a:solidFill>
              </a:rPr>
              <a:t>All figures are illustrative and for template use only  ·  Consumer Banking  ·  Replace with actuals before distribution</a:t>
            </a:r>
            <a:endParaRPr lang="en-US" sz="1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11277295" cy="914400"/>
          </a:xfrm>
          <a:prstGeom prst="rect">
            <a:avLst/>
          </a:prstGeom>
          <a:noFill/>
          <a:ln/>
        </p:spPr>
        <p:txBody>
          <a:bodyPr wrap="square" lIns="0" tIns="0" rIns="0" bIns="0" rtlCol="0" anchor="b"/>
          <a:lstStyle/>
          <a:p>
            <a:pPr algn="l" indent="0" marL="0">
              <a:buNone/>
            </a:pPr>
            <a:r>
              <a:rPr lang="en-US" sz="2800" b="1" dirty="0">
                <a:solidFill>
                  <a:schemeClr val="tx1"/>
                </a:solidFill>
              </a:rPr>
              <a:t>INC-4471: mobile banking login degraded for 2h 14m on 29 September — root cause fixed, two actions open</a:t>
            </a:r>
            <a:endParaRPr lang="en-US" sz="2800" dirty="0"/>
          </a:p>
        </p:txBody>
      </p:sp>
      <p:sp>
        <p:nvSpPr>
          <p:cNvPr id="3" name="Text 0"/>
          <p:cNvSpPr/>
          <p:nvPr>
            <p:ph idx="101" type="body" hasCustomPrompt="1"/>
          </p:nvPr>
        </p:nvSpPr>
        <p:spPr>
          <a:xfrm>
            <a:off x="457200" y="1280160"/>
            <a:ext cx="11277295" cy="320040"/>
          </a:xfrm>
          <a:prstGeom prst="rect">
            <a:avLst/>
          </a:prstGeom>
          <a:noFill/>
          <a:ln/>
        </p:spPr>
        <p:txBody>
          <a:bodyPr wrap="square" lIns="0" tIns="0" rIns="0" bIns="0" rtlCol="0" anchor="t"/>
          <a:lstStyle/>
          <a:p>
            <a:pPr algn="l" indent="0" marL="0">
              <a:buNone/>
            </a:pPr>
            <a:r>
              <a:rPr lang="en-US" sz="1200" dirty="0">
                <a:solidFill>
                  <a:schemeClr val="tx2"/>
                </a:solidFill>
              </a:rPr>
              <a:t>Post-incident report  ·  Severity 2  ·  Service owner: Digital Channels  ·  Reviewed by: Technology Risk  ·  Report date: 5 October 2026</a:t>
            </a:r>
            <a:endParaRPr lang="en-US" sz="1200" dirty="0"/>
          </a:p>
        </p:txBody>
      </p:sp>
      <p:sp>
        <p:nvSpPr>
          <p:cNvPr id="5" name="Shape 2"/>
          <p:cNvSpPr/>
          <p:nvPr/>
        </p:nvSpPr>
        <p:spPr>
          <a:xfrm>
            <a:off x="457200" y="1783080"/>
            <a:ext cx="2647874" cy="960120"/>
          </a:xfrm>
          <a:prstGeom prst="roundRect">
            <a:avLst>
              <a:gd name="adj" fmla="val 7619"/>
            </a:avLst>
          </a:prstGeom>
          <a:solidFill>
            <a:schemeClr val="bg2"/>
          </a:solidFill>
          <a:ln/>
        </p:spPr>
      </p:sp>
      <p:sp>
        <p:nvSpPr>
          <p:cNvPr id="6" name="Text 3"/>
          <p:cNvSpPr txBox="1"/>
          <p:nvPr/>
        </p:nvSpPr>
        <p:spPr>
          <a:xfrm>
            <a:off x="640080" y="1856232"/>
            <a:ext cx="2282114" cy="237744"/>
          </a:xfrm>
          <a:prstGeom prst="rect">
            <a:avLst/>
          </a:prstGeom>
          <a:noFill/>
          <a:ln/>
        </p:spPr>
        <p:txBody>
          <a:bodyPr wrap="square" lIns="0" tIns="0" rIns="0" bIns="0" rtlCol="0" anchor="t"/>
          <a:lstStyle/>
          <a:p>
            <a:pPr algn="l" indent="0" marL="0">
              <a:buNone/>
            </a:pPr>
            <a:r>
              <a:rPr lang="en-US" sz="1100" dirty="0">
                <a:solidFill>
                  <a:schemeClr val="tx2"/>
                </a:solidFill>
              </a:rPr>
              <a:t>Duration</a:t>
            </a:r>
            <a:endParaRPr lang="en-US" sz="1100" dirty="0"/>
          </a:p>
        </p:txBody>
      </p:sp>
      <p:sp>
        <p:nvSpPr>
          <p:cNvPr id="7" name="Text 4"/>
          <p:cNvSpPr txBox="1"/>
          <p:nvPr/>
        </p:nvSpPr>
        <p:spPr>
          <a:xfrm>
            <a:off x="640080" y="2075688"/>
            <a:ext cx="2282114" cy="411480"/>
          </a:xfrm>
          <a:prstGeom prst="rect">
            <a:avLst/>
          </a:prstGeom>
          <a:noFill/>
          <a:ln/>
        </p:spPr>
        <p:txBody>
          <a:bodyPr wrap="square" lIns="0" tIns="0" rIns="0" bIns="0" rtlCol="0" anchor="t"/>
          <a:lstStyle/>
          <a:p>
            <a:pPr algn="l" indent="0" marL="0">
              <a:buNone/>
            </a:pPr>
            <a:r>
              <a:rPr lang="en-US" sz="2200" b="1" dirty="0">
                <a:solidFill>
                  <a:schemeClr val="accent1"/>
                </a:solidFill>
              </a:rPr>
              <a:t>2h 14m</a:t>
            </a:r>
            <a:endParaRPr lang="en-US" sz="2200" dirty="0"/>
          </a:p>
        </p:txBody>
      </p:sp>
      <p:sp>
        <p:nvSpPr>
          <p:cNvPr id="8" name="Text 5"/>
          <p:cNvSpPr txBox="1"/>
          <p:nvPr/>
        </p:nvSpPr>
        <p:spPr>
          <a:xfrm>
            <a:off x="640080" y="2478024"/>
            <a:ext cx="2282114" cy="228600"/>
          </a:xfrm>
          <a:prstGeom prst="rect">
            <a:avLst/>
          </a:prstGeom>
          <a:noFill/>
          <a:ln/>
        </p:spPr>
        <p:txBody>
          <a:bodyPr wrap="square" lIns="0" tIns="0" rIns="0" bIns="0" rtlCol="0" anchor="t"/>
          <a:lstStyle/>
          <a:p>
            <a:pPr algn="l" indent="0" marL="0">
              <a:buNone/>
            </a:pPr>
            <a:r>
              <a:rPr lang="en-US" sz="1000" dirty="0">
                <a:solidFill>
                  <a:schemeClr val="tx2"/>
                </a:solidFill>
              </a:rPr>
              <a:t>07:42–09:56 ET, 29 September</a:t>
            </a:r>
            <a:endParaRPr lang="en-US" sz="1000" dirty="0"/>
          </a:p>
        </p:txBody>
      </p:sp>
      <p:sp>
        <p:nvSpPr>
          <p:cNvPr id="9" name="Shape 6"/>
          <p:cNvSpPr/>
          <p:nvPr/>
        </p:nvSpPr>
        <p:spPr>
          <a:xfrm>
            <a:off x="3333674" y="1783080"/>
            <a:ext cx="2647874" cy="960120"/>
          </a:xfrm>
          <a:prstGeom prst="roundRect">
            <a:avLst>
              <a:gd name="adj" fmla="val 7619"/>
            </a:avLst>
          </a:prstGeom>
          <a:solidFill>
            <a:schemeClr val="bg2"/>
          </a:solidFill>
          <a:ln/>
        </p:spPr>
      </p:sp>
      <p:sp>
        <p:nvSpPr>
          <p:cNvPr id="10" name="Text 7"/>
          <p:cNvSpPr txBox="1"/>
          <p:nvPr/>
        </p:nvSpPr>
        <p:spPr>
          <a:xfrm>
            <a:off x="3516554" y="1856232"/>
            <a:ext cx="2282114" cy="237744"/>
          </a:xfrm>
          <a:prstGeom prst="rect">
            <a:avLst/>
          </a:prstGeom>
          <a:noFill/>
          <a:ln/>
        </p:spPr>
        <p:txBody>
          <a:bodyPr wrap="square" lIns="0" tIns="0" rIns="0" bIns="0" rtlCol="0" anchor="t"/>
          <a:lstStyle/>
          <a:p>
            <a:pPr algn="l" indent="0" marL="0">
              <a:buNone/>
            </a:pPr>
            <a:r>
              <a:rPr lang="en-US" sz="1100" dirty="0">
                <a:solidFill>
                  <a:schemeClr val="tx2"/>
                </a:solidFill>
              </a:rPr>
              <a:t>Customers affected</a:t>
            </a:r>
            <a:endParaRPr lang="en-US" sz="1100" dirty="0"/>
          </a:p>
        </p:txBody>
      </p:sp>
      <p:sp>
        <p:nvSpPr>
          <p:cNvPr id="11" name="Text 8"/>
          <p:cNvSpPr txBox="1"/>
          <p:nvPr/>
        </p:nvSpPr>
        <p:spPr>
          <a:xfrm>
            <a:off x="3516554" y="2075688"/>
            <a:ext cx="2282114" cy="411480"/>
          </a:xfrm>
          <a:prstGeom prst="rect">
            <a:avLst/>
          </a:prstGeom>
          <a:noFill/>
          <a:ln/>
        </p:spPr>
        <p:txBody>
          <a:bodyPr wrap="square" lIns="0" tIns="0" rIns="0" bIns="0" rtlCol="0" anchor="t"/>
          <a:lstStyle/>
          <a:p>
            <a:pPr algn="l" indent="0" marL="0">
              <a:buNone/>
            </a:pPr>
            <a:r>
              <a:rPr lang="en-US" sz="2200" b="1" dirty="0">
                <a:solidFill>
                  <a:schemeClr val="accent1"/>
                </a:solidFill>
              </a:rPr>
              <a:t>~186k</a:t>
            </a:r>
            <a:endParaRPr lang="en-US" sz="2200" dirty="0"/>
          </a:p>
        </p:txBody>
      </p:sp>
      <p:sp>
        <p:nvSpPr>
          <p:cNvPr id="12" name="Text 9"/>
          <p:cNvSpPr txBox="1"/>
          <p:nvPr/>
        </p:nvSpPr>
        <p:spPr>
          <a:xfrm>
            <a:off x="3516554" y="2478024"/>
            <a:ext cx="2282114" cy="228600"/>
          </a:xfrm>
          <a:prstGeom prst="rect">
            <a:avLst/>
          </a:prstGeom>
          <a:noFill/>
          <a:ln/>
        </p:spPr>
        <p:txBody>
          <a:bodyPr wrap="square" lIns="0" tIns="0" rIns="0" bIns="0" rtlCol="0" anchor="t"/>
          <a:lstStyle/>
          <a:p>
            <a:pPr algn="l" indent="0" marL="0">
              <a:buNone/>
            </a:pPr>
            <a:r>
              <a:rPr lang="en-US" sz="1000" dirty="0">
                <a:solidFill>
                  <a:schemeClr val="tx2"/>
                </a:solidFill>
              </a:rPr>
              <a:t>23% of daily active users</a:t>
            </a:r>
            <a:endParaRPr lang="en-US" sz="1000" dirty="0"/>
          </a:p>
        </p:txBody>
      </p:sp>
      <p:sp>
        <p:nvSpPr>
          <p:cNvPr id="13" name="Shape 10"/>
          <p:cNvSpPr/>
          <p:nvPr/>
        </p:nvSpPr>
        <p:spPr>
          <a:xfrm>
            <a:off x="6210148" y="1783080"/>
            <a:ext cx="2647874" cy="960120"/>
          </a:xfrm>
          <a:prstGeom prst="roundRect">
            <a:avLst>
              <a:gd name="adj" fmla="val 7619"/>
            </a:avLst>
          </a:prstGeom>
          <a:solidFill>
            <a:schemeClr val="bg2"/>
          </a:solidFill>
          <a:ln/>
        </p:spPr>
      </p:sp>
      <p:sp>
        <p:nvSpPr>
          <p:cNvPr id="14" name="Text 11"/>
          <p:cNvSpPr txBox="1"/>
          <p:nvPr/>
        </p:nvSpPr>
        <p:spPr>
          <a:xfrm>
            <a:off x="6393028" y="1856232"/>
            <a:ext cx="2282114" cy="237744"/>
          </a:xfrm>
          <a:prstGeom prst="rect">
            <a:avLst/>
          </a:prstGeom>
          <a:noFill/>
          <a:ln/>
        </p:spPr>
        <p:txBody>
          <a:bodyPr wrap="square" lIns="0" tIns="0" rIns="0" bIns="0" rtlCol="0" anchor="t"/>
          <a:lstStyle/>
          <a:p>
            <a:pPr algn="l" indent="0" marL="0">
              <a:buNone/>
            </a:pPr>
            <a:r>
              <a:rPr lang="en-US" sz="1100" dirty="0">
                <a:solidFill>
                  <a:schemeClr val="tx2"/>
                </a:solidFill>
              </a:rPr>
              <a:t>Failed login attempts</a:t>
            </a:r>
            <a:endParaRPr lang="en-US" sz="1100" dirty="0"/>
          </a:p>
        </p:txBody>
      </p:sp>
      <p:sp>
        <p:nvSpPr>
          <p:cNvPr id="15" name="Text 12"/>
          <p:cNvSpPr txBox="1"/>
          <p:nvPr/>
        </p:nvSpPr>
        <p:spPr>
          <a:xfrm>
            <a:off x="6393028" y="2075688"/>
            <a:ext cx="2282114" cy="411480"/>
          </a:xfrm>
          <a:prstGeom prst="rect">
            <a:avLst/>
          </a:prstGeom>
          <a:noFill/>
          <a:ln/>
        </p:spPr>
        <p:txBody>
          <a:bodyPr wrap="square" lIns="0" tIns="0" rIns="0" bIns="0" rtlCol="0" anchor="t"/>
          <a:lstStyle/>
          <a:p>
            <a:pPr algn="l" indent="0" marL="0">
              <a:buNone/>
            </a:pPr>
            <a:r>
              <a:rPr lang="en-US" sz="2200" b="1" dirty="0">
                <a:solidFill>
                  <a:schemeClr val="accent1"/>
                </a:solidFill>
              </a:rPr>
              <a:t>412k</a:t>
            </a:r>
            <a:endParaRPr lang="en-US" sz="2200" dirty="0"/>
          </a:p>
        </p:txBody>
      </p:sp>
      <p:sp>
        <p:nvSpPr>
          <p:cNvPr id="16" name="Text 13"/>
          <p:cNvSpPr txBox="1"/>
          <p:nvPr/>
        </p:nvSpPr>
        <p:spPr>
          <a:xfrm>
            <a:off x="6393028" y="2478024"/>
            <a:ext cx="2282114" cy="228600"/>
          </a:xfrm>
          <a:prstGeom prst="rect">
            <a:avLst/>
          </a:prstGeom>
          <a:noFill/>
          <a:ln/>
        </p:spPr>
        <p:txBody>
          <a:bodyPr wrap="square" lIns="0" tIns="0" rIns="0" bIns="0" rtlCol="0" anchor="t"/>
          <a:lstStyle/>
          <a:p>
            <a:pPr algn="l" indent="0" marL="0">
              <a:buNone/>
            </a:pPr>
            <a:r>
              <a:rPr lang="en-US" sz="1000" dirty="0">
                <a:solidFill>
                  <a:schemeClr val="tx2"/>
                </a:solidFill>
              </a:rPr>
              <a:t>app and web combined</a:t>
            </a:r>
            <a:endParaRPr lang="en-US" sz="1000" dirty="0"/>
          </a:p>
        </p:txBody>
      </p:sp>
      <p:sp>
        <p:nvSpPr>
          <p:cNvPr id="17" name="Shape 14"/>
          <p:cNvSpPr/>
          <p:nvPr/>
        </p:nvSpPr>
        <p:spPr>
          <a:xfrm>
            <a:off x="9086621" y="1783080"/>
            <a:ext cx="2647874" cy="960120"/>
          </a:xfrm>
          <a:prstGeom prst="roundRect">
            <a:avLst>
              <a:gd name="adj" fmla="val 7619"/>
            </a:avLst>
          </a:prstGeom>
          <a:solidFill>
            <a:schemeClr val="bg2"/>
          </a:solidFill>
          <a:ln/>
        </p:spPr>
      </p:sp>
      <p:sp>
        <p:nvSpPr>
          <p:cNvPr id="18" name="Text 15"/>
          <p:cNvSpPr txBox="1"/>
          <p:nvPr/>
        </p:nvSpPr>
        <p:spPr>
          <a:xfrm>
            <a:off x="9269501" y="1856232"/>
            <a:ext cx="2282114" cy="237744"/>
          </a:xfrm>
          <a:prstGeom prst="rect">
            <a:avLst/>
          </a:prstGeom>
          <a:noFill/>
          <a:ln/>
        </p:spPr>
        <p:txBody>
          <a:bodyPr wrap="square" lIns="0" tIns="0" rIns="0" bIns="0" rtlCol="0" anchor="t"/>
          <a:lstStyle/>
          <a:p>
            <a:pPr algn="l" indent="0" marL="0">
              <a:buNone/>
            </a:pPr>
            <a:r>
              <a:rPr lang="en-US" sz="1100" dirty="0">
                <a:solidFill>
                  <a:schemeClr val="tx2"/>
                </a:solidFill>
              </a:rPr>
              <a:t>Complaints logged</a:t>
            </a:r>
            <a:endParaRPr lang="en-US" sz="1100" dirty="0"/>
          </a:p>
        </p:txBody>
      </p:sp>
      <p:sp>
        <p:nvSpPr>
          <p:cNvPr id="19" name="Text 16"/>
          <p:cNvSpPr txBox="1"/>
          <p:nvPr/>
        </p:nvSpPr>
        <p:spPr>
          <a:xfrm>
            <a:off x="9269501" y="2075688"/>
            <a:ext cx="2282114" cy="411480"/>
          </a:xfrm>
          <a:prstGeom prst="rect">
            <a:avLst/>
          </a:prstGeom>
          <a:noFill/>
          <a:ln/>
        </p:spPr>
        <p:txBody>
          <a:bodyPr wrap="square" lIns="0" tIns="0" rIns="0" bIns="0" rtlCol="0" anchor="t"/>
          <a:lstStyle/>
          <a:p>
            <a:pPr algn="l" indent="0" marL="0">
              <a:buNone/>
            </a:pPr>
            <a:r>
              <a:rPr lang="en-US" sz="2200" b="1" dirty="0">
                <a:solidFill>
                  <a:schemeClr val="accent1"/>
                </a:solidFill>
              </a:rPr>
              <a:t>1,240</a:t>
            </a:r>
            <a:endParaRPr lang="en-US" sz="2200" dirty="0"/>
          </a:p>
        </p:txBody>
      </p:sp>
      <p:sp>
        <p:nvSpPr>
          <p:cNvPr id="20" name="Text 17"/>
          <p:cNvSpPr txBox="1"/>
          <p:nvPr/>
        </p:nvSpPr>
        <p:spPr>
          <a:xfrm>
            <a:off x="9269501" y="2478024"/>
            <a:ext cx="2282114" cy="228600"/>
          </a:xfrm>
          <a:prstGeom prst="rect">
            <a:avLst/>
          </a:prstGeom>
          <a:noFill/>
          <a:ln/>
        </p:spPr>
        <p:txBody>
          <a:bodyPr wrap="square" lIns="0" tIns="0" rIns="0" bIns="0" rtlCol="0" anchor="t"/>
          <a:lstStyle/>
          <a:p>
            <a:pPr algn="l" indent="0" marL="0">
              <a:buNone/>
            </a:pPr>
            <a:r>
              <a:rPr lang="en-US" sz="1000" dirty="0">
                <a:solidFill>
                  <a:schemeClr val="tx2"/>
                </a:solidFill>
              </a:rPr>
              <a:t>against ~90 on a normal day</a:t>
            </a:r>
            <a:endParaRPr lang="en-US" sz="1000" dirty="0"/>
          </a:p>
        </p:txBody>
      </p:sp>
      <p:sp>
        <p:nvSpPr>
          <p:cNvPr id="21" name="Shape 18"/>
          <p:cNvSpPr/>
          <p:nvPr/>
        </p:nvSpPr>
        <p:spPr>
          <a:xfrm>
            <a:off x="731520" y="3246120"/>
            <a:ext cx="10728655" cy="0"/>
          </a:xfrm>
          <a:prstGeom prst="line">
            <a:avLst/>
          </a:prstGeom>
          <a:noFill/>
          <a:ln w="19050">
            <a:solidFill>
              <a:srgbClr val="5A5A5A"/>
            </a:solidFill>
            <a:prstDash val="solid"/>
          </a:ln>
        </p:spPr>
      </p:sp>
      <p:sp>
        <p:nvSpPr>
          <p:cNvPr id="22" name="Shape 19"/>
          <p:cNvSpPr/>
          <p:nvPr/>
        </p:nvSpPr>
        <p:spPr>
          <a:xfrm>
            <a:off x="630936" y="3145536"/>
            <a:ext cx="201168" cy="201168"/>
          </a:xfrm>
          <a:prstGeom prst="ellipse">
            <a:avLst/>
          </a:prstGeom>
          <a:solidFill>
            <a:srgbClr val="FAB219"/>
          </a:solidFill>
          <a:ln w="12700">
            <a:solidFill>
              <a:srgbClr val="FAB219"/>
            </a:solidFill>
            <a:prstDash val="solid"/>
          </a:ln>
        </p:spPr>
      </p:sp>
      <p:sp>
        <p:nvSpPr>
          <p:cNvPr id="23" name="Text 20"/>
          <p:cNvSpPr txBox="1"/>
          <p:nvPr/>
        </p:nvSpPr>
        <p:spPr>
          <a:xfrm>
            <a:off x="0" y="2862072"/>
            <a:ext cx="1463040" cy="228600"/>
          </a:xfrm>
          <a:prstGeom prst="rect">
            <a:avLst/>
          </a:prstGeom>
          <a:noFill/>
          <a:ln/>
        </p:spPr>
        <p:txBody>
          <a:bodyPr wrap="square" lIns="0" tIns="0" rIns="0" bIns="0" rtlCol="0" anchor="t"/>
          <a:lstStyle/>
          <a:p>
            <a:pPr algn="ctr" indent="0" marL="0">
              <a:buNone/>
            </a:pPr>
            <a:r>
              <a:rPr lang="en-US" sz="1100" b="1" dirty="0">
                <a:solidFill>
                  <a:schemeClr val="tx1"/>
                </a:solidFill>
              </a:rPr>
              <a:t>07:42</a:t>
            </a:r>
            <a:endParaRPr lang="en-US" sz="1100" dirty="0"/>
          </a:p>
        </p:txBody>
      </p:sp>
      <p:sp>
        <p:nvSpPr>
          <p:cNvPr id="24" name="Text 21"/>
          <p:cNvSpPr txBox="1"/>
          <p:nvPr/>
        </p:nvSpPr>
        <p:spPr>
          <a:xfrm>
            <a:off x="-365760" y="3429000"/>
            <a:ext cx="2194560" cy="640080"/>
          </a:xfrm>
          <a:prstGeom prst="rect">
            <a:avLst/>
          </a:prstGeom>
          <a:noFill/>
          <a:ln/>
        </p:spPr>
        <p:txBody>
          <a:bodyPr wrap="square" lIns="0" tIns="0" rIns="0" bIns="0" rtlCol="0" anchor="t"/>
          <a:lstStyle/>
          <a:p>
            <a:pPr algn="ctr" indent="0" marL="0">
              <a:buNone/>
            </a:pPr>
            <a:r>
              <a:rPr lang="en-US" sz="1000" dirty="0">
                <a:solidFill>
                  <a:schemeClr val="tx2"/>
                </a:solidFill>
              </a:rPr>
              <a:t>Monitoring alert: auth error rate above 5%</a:t>
            </a:r>
            <a:endParaRPr lang="en-US" sz="1000" dirty="0"/>
          </a:p>
        </p:txBody>
      </p:sp>
      <p:sp>
        <p:nvSpPr>
          <p:cNvPr id="25" name="Shape 22"/>
          <p:cNvSpPr/>
          <p:nvPr/>
        </p:nvSpPr>
        <p:spPr>
          <a:xfrm>
            <a:off x="3313100" y="3145536"/>
            <a:ext cx="201168" cy="201168"/>
          </a:xfrm>
          <a:prstGeom prst="ellipse">
            <a:avLst/>
          </a:prstGeom>
          <a:solidFill>
            <a:srgbClr val="FAB219"/>
          </a:solidFill>
          <a:ln w="12700">
            <a:solidFill>
              <a:srgbClr val="FAB219"/>
            </a:solidFill>
            <a:prstDash val="solid"/>
          </a:ln>
        </p:spPr>
      </p:sp>
      <p:sp>
        <p:nvSpPr>
          <p:cNvPr id="26" name="Text 23"/>
          <p:cNvSpPr txBox="1"/>
          <p:nvPr/>
        </p:nvSpPr>
        <p:spPr>
          <a:xfrm>
            <a:off x="2682164" y="2862072"/>
            <a:ext cx="1463040" cy="228600"/>
          </a:xfrm>
          <a:prstGeom prst="rect">
            <a:avLst/>
          </a:prstGeom>
          <a:noFill/>
          <a:ln/>
        </p:spPr>
        <p:txBody>
          <a:bodyPr wrap="square" lIns="0" tIns="0" rIns="0" bIns="0" rtlCol="0" anchor="t"/>
          <a:lstStyle/>
          <a:p>
            <a:pPr algn="ctr" indent="0" marL="0">
              <a:buNone/>
            </a:pPr>
            <a:r>
              <a:rPr lang="en-US" sz="1100" b="1" dirty="0">
                <a:solidFill>
                  <a:schemeClr val="tx1"/>
                </a:solidFill>
              </a:rPr>
              <a:t>07:55</a:t>
            </a:r>
            <a:endParaRPr lang="en-US" sz="1100" dirty="0"/>
          </a:p>
        </p:txBody>
      </p:sp>
      <p:sp>
        <p:nvSpPr>
          <p:cNvPr id="27" name="Text 24"/>
          <p:cNvSpPr txBox="1"/>
          <p:nvPr/>
        </p:nvSpPr>
        <p:spPr>
          <a:xfrm>
            <a:off x="2316404" y="3429000"/>
            <a:ext cx="2194560" cy="640080"/>
          </a:xfrm>
          <a:prstGeom prst="rect">
            <a:avLst/>
          </a:prstGeom>
          <a:noFill/>
          <a:ln/>
        </p:spPr>
        <p:txBody>
          <a:bodyPr wrap="square" lIns="0" tIns="0" rIns="0" bIns="0" rtlCol="0" anchor="t"/>
          <a:lstStyle/>
          <a:p>
            <a:pPr algn="ctr" indent="0" marL="0">
              <a:buNone/>
            </a:pPr>
            <a:r>
              <a:rPr lang="en-US" sz="1000" dirty="0">
                <a:solidFill>
                  <a:schemeClr val="tx2"/>
                </a:solidFill>
              </a:rPr>
              <a:t>Sev-2 declared; incident bridge opened</a:t>
            </a:r>
            <a:endParaRPr lang="en-US" sz="1000" dirty="0"/>
          </a:p>
        </p:txBody>
      </p:sp>
      <p:sp>
        <p:nvSpPr>
          <p:cNvPr id="28" name="Shape 25"/>
          <p:cNvSpPr/>
          <p:nvPr/>
        </p:nvSpPr>
        <p:spPr>
          <a:xfrm>
            <a:off x="5995264" y="3145536"/>
            <a:ext cx="201168" cy="201168"/>
          </a:xfrm>
          <a:prstGeom prst="ellipse">
            <a:avLst/>
          </a:prstGeom>
          <a:solidFill>
            <a:srgbClr val="FAB219"/>
          </a:solidFill>
          <a:ln w="12700">
            <a:solidFill>
              <a:srgbClr val="FAB219"/>
            </a:solidFill>
            <a:prstDash val="solid"/>
          </a:ln>
        </p:spPr>
      </p:sp>
      <p:sp>
        <p:nvSpPr>
          <p:cNvPr id="29" name="Text 26"/>
          <p:cNvSpPr txBox="1"/>
          <p:nvPr/>
        </p:nvSpPr>
        <p:spPr>
          <a:xfrm>
            <a:off x="5364328" y="2862072"/>
            <a:ext cx="1463040" cy="228600"/>
          </a:xfrm>
          <a:prstGeom prst="rect">
            <a:avLst/>
          </a:prstGeom>
          <a:noFill/>
          <a:ln/>
        </p:spPr>
        <p:txBody>
          <a:bodyPr wrap="square" lIns="0" tIns="0" rIns="0" bIns="0" rtlCol="0" anchor="t"/>
          <a:lstStyle/>
          <a:p>
            <a:pPr algn="ctr" indent="0" marL="0">
              <a:buNone/>
            </a:pPr>
            <a:r>
              <a:rPr lang="en-US" sz="1100" b="1" dirty="0">
                <a:solidFill>
                  <a:schemeClr val="tx1"/>
                </a:solidFill>
              </a:rPr>
              <a:t>08:30</a:t>
            </a:r>
            <a:endParaRPr lang="en-US" sz="1100" dirty="0"/>
          </a:p>
        </p:txBody>
      </p:sp>
      <p:sp>
        <p:nvSpPr>
          <p:cNvPr id="30" name="Text 27"/>
          <p:cNvSpPr txBox="1"/>
          <p:nvPr/>
        </p:nvSpPr>
        <p:spPr>
          <a:xfrm>
            <a:off x="4998568" y="3429000"/>
            <a:ext cx="2194560" cy="640080"/>
          </a:xfrm>
          <a:prstGeom prst="rect">
            <a:avLst/>
          </a:prstGeom>
          <a:noFill/>
          <a:ln/>
        </p:spPr>
        <p:txBody>
          <a:bodyPr wrap="square" lIns="0" tIns="0" rIns="0" bIns="0" rtlCol="0" anchor="t"/>
          <a:lstStyle/>
          <a:p>
            <a:pPr algn="ctr" indent="0" marL="0">
              <a:buNone/>
            </a:pPr>
            <a:r>
              <a:rPr lang="en-US" sz="1000" dirty="0">
                <a:solidFill>
                  <a:schemeClr val="tx2"/>
                </a:solidFill>
              </a:rPr>
              <a:t>Root cause found: expired TLS certificate on the secondary auth gateway</a:t>
            </a:r>
            <a:endParaRPr lang="en-US" sz="1000" dirty="0"/>
          </a:p>
        </p:txBody>
      </p:sp>
      <p:sp>
        <p:nvSpPr>
          <p:cNvPr id="31" name="Shape 28"/>
          <p:cNvSpPr/>
          <p:nvPr/>
        </p:nvSpPr>
        <p:spPr>
          <a:xfrm>
            <a:off x="8677427" y="3145536"/>
            <a:ext cx="201168" cy="201168"/>
          </a:xfrm>
          <a:prstGeom prst="ellipse">
            <a:avLst/>
          </a:prstGeom>
          <a:solidFill>
            <a:srgbClr val="FAB219"/>
          </a:solidFill>
          <a:ln w="12700">
            <a:solidFill>
              <a:srgbClr val="FAB219"/>
            </a:solidFill>
            <a:prstDash val="solid"/>
          </a:ln>
        </p:spPr>
      </p:sp>
      <p:sp>
        <p:nvSpPr>
          <p:cNvPr id="32" name="Text 29"/>
          <p:cNvSpPr txBox="1"/>
          <p:nvPr/>
        </p:nvSpPr>
        <p:spPr>
          <a:xfrm>
            <a:off x="8046491" y="2862072"/>
            <a:ext cx="1463040" cy="228600"/>
          </a:xfrm>
          <a:prstGeom prst="rect">
            <a:avLst/>
          </a:prstGeom>
          <a:noFill/>
          <a:ln/>
        </p:spPr>
        <p:txBody>
          <a:bodyPr wrap="square" lIns="0" tIns="0" rIns="0" bIns="0" rtlCol="0" anchor="t"/>
          <a:lstStyle/>
          <a:p>
            <a:pPr algn="ctr" indent="0" marL="0">
              <a:buNone/>
            </a:pPr>
            <a:r>
              <a:rPr lang="en-US" sz="1100" b="1" dirty="0">
                <a:solidFill>
                  <a:schemeClr val="tx1"/>
                </a:solidFill>
              </a:rPr>
              <a:t>09:20</a:t>
            </a:r>
            <a:endParaRPr lang="en-US" sz="1100" dirty="0"/>
          </a:p>
        </p:txBody>
      </p:sp>
      <p:sp>
        <p:nvSpPr>
          <p:cNvPr id="33" name="Text 30"/>
          <p:cNvSpPr txBox="1"/>
          <p:nvPr/>
        </p:nvSpPr>
        <p:spPr>
          <a:xfrm>
            <a:off x="7680731" y="3429000"/>
            <a:ext cx="2194560" cy="640080"/>
          </a:xfrm>
          <a:prstGeom prst="rect">
            <a:avLst/>
          </a:prstGeom>
          <a:noFill/>
          <a:ln/>
        </p:spPr>
        <p:txBody>
          <a:bodyPr wrap="square" lIns="0" tIns="0" rIns="0" bIns="0" rtlCol="0" anchor="t"/>
          <a:lstStyle/>
          <a:p>
            <a:pPr algn="ctr" indent="0" marL="0">
              <a:buNone/>
            </a:pPr>
            <a:r>
              <a:rPr lang="en-US" sz="1000" dirty="0">
                <a:solidFill>
                  <a:schemeClr val="tx2"/>
                </a:solidFill>
              </a:rPr>
              <a:t>Certificate reissued; gateway nodes restarted</a:t>
            </a:r>
            <a:endParaRPr lang="en-US" sz="1000" dirty="0"/>
          </a:p>
        </p:txBody>
      </p:sp>
      <p:sp>
        <p:nvSpPr>
          <p:cNvPr id="34" name="Shape 31"/>
          <p:cNvSpPr/>
          <p:nvPr/>
        </p:nvSpPr>
        <p:spPr>
          <a:xfrm>
            <a:off x="11359591" y="3145536"/>
            <a:ext cx="201168" cy="201168"/>
          </a:xfrm>
          <a:prstGeom prst="ellipse">
            <a:avLst/>
          </a:prstGeom>
          <a:solidFill>
            <a:srgbClr val="66BB6A"/>
          </a:solidFill>
          <a:ln w="12700">
            <a:solidFill>
              <a:srgbClr val="66BB6A"/>
            </a:solidFill>
            <a:prstDash val="solid"/>
          </a:ln>
        </p:spPr>
      </p:sp>
      <p:sp>
        <p:nvSpPr>
          <p:cNvPr id="35" name="Text 32"/>
          <p:cNvSpPr txBox="1"/>
          <p:nvPr/>
        </p:nvSpPr>
        <p:spPr>
          <a:xfrm>
            <a:off x="10728655" y="2862072"/>
            <a:ext cx="1463040" cy="228600"/>
          </a:xfrm>
          <a:prstGeom prst="rect">
            <a:avLst/>
          </a:prstGeom>
          <a:noFill/>
          <a:ln/>
        </p:spPr>
        <p:txBody>
          <a:bodyPr wrap="square" lIns="0" tIns="0" rIns="0" bIns="0" rtlCol="0" anchor="t"/>
          <a:lstStyle/>
          <a:p>
            <a:pPr algn="ctr" indent="0" marL="0">
              <a:buNone/>
            </a:pPr>
            <a:r>
              <a:rPr lang="en-US" sz="1100" b="1" dirty="0">
                <a:solidFill>
                  <a:schemeClr val="tx1"/>
                </a:solidFill>
              </a:rPr>
              <a:t>09:56</a:t>
            </a:r>
            <a:endParaRPr lang="en-US" sz="1100" dirty="0"/>
          </a:p>
        </p:txBody>
      </p:sp>
      <p:sp>
        <p:nvSpPr>
          <p:cNvPr id="36" name="Text 33"/>
          <p:cNvSpPr txBox="1"/>
          <p:nvPr/>
        </p:nvSpPr>
        <p:spPr>
          <a:xfrm>
            <a:off x="10362895" y="3429000"/>
            <a:ext cx="2194560" cy="640080"/>
          </a:xfrm>
          <a:prstGeom prst="rect">
            <a:avLst/>
          </a:prstGeom>
          <a:noFill/>
          <a:ln/>
        </p:spPr>
        <p:txBody>
          <a:bodyPr wrap="square" lIns="0" tIns="0" rIns="0" bIns="0" rtlCol="0" anchor="t"/>
          <a:lstStyle/>
          <a:p>
            <a:pPr algn="ctr" indent="0" marL="0">
              <a:buNone/>
            </a:pPr>
            <a:r>
              <a:rPr lang="en-US" sz="1000" dirty="0">
                <a:solidFill>
                  <a:schemeClr val="tx2"/>
                </a:solidFill>
              </a:rPr>
              <a:t>Error rate back at baseline; incident closed</a:t>
            </a:r>
            <a:endParaRPr lang="en-US" sz="1000" dirty="0"/>
          </a:p>
        </p:txBody>
      </p:sp>
      <p:sp>
        <p:nvSpPr>
          <p:cNvPr id="37" name="Text 34"/>
          <p:cNvSpPr txBox="1"/>
          <p:nvPr/>
        </p:nvSpPr>
        <p:spPr>
          <a:xfrm>
            <a:off x="457200" y="4297680"/>
            <a:ext cx="5486400" cy="228600"/>
          </a:xfrm>
          <a:prstGeom prst="rect">
            <a:avLst/>
          </a:prstGeom>
          <a:noFill/>
          <a:ln/>
        </p:spPr>
        <p:txBody>
          <a:bodyPr wrap="square" lIns="0" tIns="0" rIns="0" bIns="0" rtlCol="0" anchor="t"/>
          <a:lstStyle/>
          <a:p>
            <a:pPr algn="l" indent="0" marL="0">
              <a:buNone/>
            </a:pPr>
            <a:r>
              <a:rPr lang="en-US" sz="1000" b="1" spc="200" kern="0" dirty="0">
                <a:solidFill>
                  <a:schemeClr val="accent1"/>
                </a:solidFill>
              </a:rPr>
              <a:t>ROOT CAUSE</a:t>
            </a:r>
            <a:endParaRPr lang="en-US" sz="1000" dirty="0"/>
          </a:p>
        </p:txBody>
      </p:sp>
      <p:sp>
        <p:nvSpPr>
          <p:cNvPr id="38" name="Text 35"/>
          <p:cNvSpPr txBox="1"/>
          <p:nvPr/>
        </p:nvSpPr>
        <p:spPr>
          <a:xfrm>
            <a:off x="457200" y="4553712"/>
            <a:ext cx="5486400" cy="1051560"/>
          </a:xfrm>
          <a:prstGeom prst="rect">
            <a:avLst/>
          </a:prstGeom>
          <a:noFill/>
          <a:ln/>
        </p:spPr>
        <p:txBody>
          <a:bodyPr wrap="square" lIns="0" tIns="0" rIns="0" bIns="0" rtlCol="0" anchor="t"/>
          <a:lstStyle/>
          <a:p>
            <a:pPr algn="l" indent="0" marL="0">
              <a:buNone/>
            </a:pPr>
            <a:r>
              <a:rPr lang="en-US" sz="1150" dirty="0">
                <a:solidFill>
                  <a:schemeClr val="tx1"/>
                </a:solidFill>
              </a:rPr>
              <a:t>The quarterly certificate rotation completed on the primary gateway but failed silently on the secondary. When a routine deployment shifted traffic to the secondary at 07:40, TLS handshakes failed and logins errored. Detection relied on error-rate alerting; no certificate-expiry alert existed for the secondary node.</a:t>
            </a:r>
            <a:endParaRPr lang="en-US" sz="1150" dirty="0"/>
          </a:p>
        </p:txBody>
      </p:sp>
      <p:sp>
        <p:nvSpPr>
          <p:cNvPr id="39" name="Text 36"/>
          <p:cNvSpPr txBox="1"/>
          <p:nvPr/>
        </p:nvSpPr>
        <p:spPr>
          <a:xfrm>
            <a:off x="457200" y="5669280"/>
            <a:ext cx="5486400" cy="228600"/>
          </a:xfrm>
          <a:prstGeom prst="rect">
            <a:avLst/>
          </a:prstGeom>
          <a:noFill/>
          <a:ln/>
        </p:spPr>
        <p:txBody>
          <a:bodyPr wrap="square" lIns="0" tIns="0" rIns="0" bIns="0" rtlCol="0" anchor="t"/>
          <a:lstStyle/>
          <a:p>
            <a:pPr algn="l" indent="0" marL="0">
              <a:buNone/>
            </a:pPr>
            <a:r>
              <a:rPr lang="en-US" sz="1000" b="1" spc="200" kern="0" dirty="0">
                <a:solidFill>
                  <a:schemeClr val="accent1"/>
                </a:solidFill>
              </a:rPr>
              <a:t>CUSTOMER IMPACT</a:t>
            </a:r>
            <a:endParaRPr lang="en-US" sz="1000" dirty="0"/>
          </a:p>
        </p:txBody>
      </p:sp>
      <p:sp>
        <p:nvSpPr>
          <p:cNvPr id="40" name="Text 37"/>
          <p:cNvSpPr txBox="1"/>
          <p:nvPr/>
        </p:nvSpPr>
        <p:spPr>
          <a:xfrm>
            <a:off x="457200" y="5925312"/>
            <a:ext cx="5486400" cy="640080"/>
          </a:xfrm>
          <a:prstGeom prst="rect">
            <a:avLst/>
          </a:prstGeom>
          <a:noFill/>
          <a:ln/>
        </p:spPr>
        <p:txBody>
          <a:bodyPr wrap="square" lIns="0" tIns="0" rIns="0" bIns="0" rtlCol="0" anchor="t"/>
          <a:lstStyle/>
          <a:p>
            <a:pPr algn="l" indent="0" marL="0">
              <a:buNone/>
            </a:pPr>
            <a:r>
              <a:rPr lang="en-US" sz="1150" dirty="0">
                <a:solidFill>
                  <a:schemeClr val="tx1"/>
                </a:solidFill>
              </a:rPr>
              <a:t>App and web login unavailable or slow for most customers; cards, ATMs and payments were unaffected. 1,240 complaints (3 escalated) and goodwill payments of $8.2k.</a:t>
            </a:r>
            <a:endParaRPr lang="en-US" sz="1150" dirty="0"/>
          </a:p>
        </p:txBody>
      </p:sp>
      <p:sp>
        <p:nvSpPr>
          <p:cNvPr id="41" name="Text 38"/>
          <p:cNvSpPr txBox="1"/>
          <p:nvPr/>
        </p:nvSpPr>
        <p:spPr>
          <a:xfrm>
            <a:off x="6263640" y="4297680"/>
            <a:ext cx="5470855" cy="228600"/>
          </a:xfrm>
          <a:prstGeom prst="rect">
            <a:avLst/>
          </a:prstGeom>
          <a:noFill/>
          <a:ln/>
        </p:spPr>
        <p:txBody>
          <a:bodyPr wrap="square" lIns="0" tIns="0" rIns="0" bIns="0" rtlCol="0" anchor="t"/>
          <a:lstStyle/>
          <a:p>
            <a:pPr algn="l" indent="0" marL="0">
              <a:buNone/>
            </a:pPr>
            <a:r>
              <a:rPr lang="en-US" sz="1000" b="1" spc="200" kern="0" dirty="0">
                <a:solidFill>
                  <a:schemeClr val="accent1"/>
                </a:solidFill>
              </a:rPr>
              <a:t>ACTIONS</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6263640" y="4572000"/>
          <a:ext cx="5470855" cy="914400"/>
        </p:xfrm>
        <a:graphic>
          <a:graphicData uri="http://schemas.openxmlformats.org/drawingml/2006/table">
            <a:tbl>
              <a:tblPr/>
              <a:tblGrid>
                <a:gridCol w="2743200"/>
                <a:gridCol w="1143000"/>
                <a:gridCol w="640080"/>
                <a:gridCol w="944575"/>
              </a:tblGrid>
              <a:tr h="274320">
                <a:tc>
                  <a:txBody>
                    <a:bodyPr/>
                    <a:lstStyle/>
                    <a:p>
                      <a:pPr indent="0" marL="0">
                        <a:buNone/>
                      </a:pPr>
                      <a:r>
                        <a:rPr lang="en-US" sz="900" b="1" spc="100" kern="0" dirty="0">
                          <a:solidFill>
                            <a:srgbClr val="BDBDBD"/>
                          </a:solidFill>
                        </a:rPr>
                        <a:t>ACTION</a:t>
                      </a:r>
                      <a:endParaRPr lang="en-US" sz="900" dirty="0"/>
                    </a:p>
                  </a:txBody>
                  <a:tcPr marL="73152" marR="73152" marT="36576" marB="36576" anchor="b">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c>
                  <a:txBody>
                    <a:bodyPr/>
                    <a:lstStyle/>
                    <a:p>
                      <a:pPr indent="0" marL="0">
                        <a:buNone/>
                      </a:pPr>
                      <a:r>
                        <a:rPr lang="en-US" sz="900" b="1" spc="100" kern="0" dirty="0">
                          <a:solidFill>
                            <a:srgbClr val="BDBDBD"/>
                          </a:solidFill>
                        </a:rPr>
                        <a:t>OWNER</a:t>
                      </a:r>
                      <a:endParaRPr lang="en-US" sz="900" dirty="0"/>
                    </a:p>
                  </a:txBody>
                  <a:tcPr marL="73152" marR="73152" marT="36576" marB="36576" anchor="b">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c>
                  <a:txBody>
                    <a:bodyPr/>
                    <a:lstStyle/>
                    <a:p>
                      <a:pPr indent="0" marL="0">
                        <a:buNone/>
                      </a:pPr>
                      <a:r>
                        <a:rPr lang="en-US" sz="900" b="1" spc="100" kern="0" dirty="0">
                          <a:solidFill>
                            <a:srgbClr val="BDBDBD"/>
                          </a:solidFill>
                        </a:rPr>
                        <a:t>DUE</a:t>
                      </a:r>
                      <a:endParaRPr lang="en-US" sz="900" dirty="0"/>
                    </a:p>
                  </a:txBody>
                  <a:tcPr marL="73152" marR="73152" marT="36576" marB="36576" anchor="b">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c>
                  <a:txBody>
                    <a:bodyPr/>
                    <a:lstStyle/>
                    <a:p>
                      <a:pPr indent="0" marL="0">
                        <a:buNone/>
                      </a:pPr>
                      <a:r>
                        <a:rPr lang="en-US" sz="900" b="1" spc="100" kern="0" dirty="0">
                          <a:solidFill>
                            <a:srgbClr val="BDBDBD"/>
                          </a:solidFill>
                        </a:rPr>
                        <a:t>STATUS</a:t>
                      </a:r>
                      <a:endParaRPr lang="en-US" sz="900" dirty="0"/>
                    </a:p>
                  </a:txBody>
                  <a:tcPr marL="73152" marR="73152" marT="36576" marB="36576" anchor="b">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r>
              <a:tr h="502920">
                <a:tc>
                  <a:txBody>
                    <a:bodyPr/>
                    <a:lstStyle/>
                    <a:p>
                      <a:pPr indent="0" marL="0">
                        <a:buNone/>
                      </a:pPr>
                      <a:r>
                        <a:rPr lang="en-US" sz="1100" dirty="0">
                          <a:solidFill>
                            <a:srgbClr val="F5F5F5"/>
                          </a:solidFill>
                        </a:rPr>
                        <a:t>Certificate-expiry monitoring on every gateway node</a:t>
                      </a:r>
                      <a:endParaRPr lang="en-US" sz="1100" dirty="0"/>
                    </a:p>
                  </a:txBody>
                  <a:tcPr marL="73152" marR="73152" marT="36576" marB="36576" anchor="ctr">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c>
                  <a:txBody>
                    <a:bodyPr/>
                    <a:lstStyle/>
                    <a:p>
                      <a:pPr indent="0" marL="0">
                        <a:buNone/>
                      </a:pPr>
                      <a:r>
                        <a:rPr lang="en-US" sz="1100" dirty="0">
                          <a:solidFill>
                            <a:srgbClr val="BDBDBD"/>
                          </a:solidFill>
                        </a:rPr>
                        <a:t>Platform Eng.</a:t>
                      </a:r>
                      <a:endParaRPr lang="en-US" sz="1100" dirty="0"/>
                    </a:p>
                  </a:txBody>
                  <a:tcPr marL="73152" marR="73152" marT="36576" marB="36576" anchor="ctr">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c>
                  <a:txBody>
                    <a:bodyPr/>
                    <a:lstStyle/>
                    <a:p>
                      <a:pPr indent="0" marL="0">
                        <a:buNone/>
                      </a:pPr>
                      <a:r>
                        <a:rPr lang="en-US" sz="1100" dirty="0">
                          <a:solidFill>
                            <a:srgbClr val="BDBDBD"/>
                          </a:solidFill>
                        </a:rPr>
                        <a:t>10 Oct</a:t>
                      </a:r>
                      <a:endParaRPr lang="en-US" sz="1100" dirty="0"/>
                    </a:p>
                  </a:txBody>
                  <a:tcPr marL="73152" marR="73152" marT="36576" marB="36576" anchor="ctr">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c>
                  <a:txBody>
                    <a:bodyPr/>
                    <a:lstStyle/>
                    <a:p>
                      <a:pPr indent="0" marL="0">
                        <a:buNone/>
                      </a:pPr>
                      <a:r>
                        <a:rPr lang="en-US" sz="1100" b="1" dirty="0">
                          <a:solidFill>
                            <a:srgbClr val="66BB6A"/>
                          </a:solidFill>
                        </a:rPr>
                        <a:t>● </a:t>
                      </a:r>
                      <a:pPr indent="0" marL="0">
                        <a:buNone/>
                      </a:pPr>
                      <a:r>
                        <a:rPr lang="en-US" sz="1100" dirty="0">
                          <a:solidFill>
                            <a:srgbClr val="F5F5F5"/>
                          </a:solidFill>
                        </a:rPr>
                        <a:t>Done</a:t>
                      </a:r>
                      <a:endParaRPr lang="en-US" sz="1100" dirty="0"/>
                    </a:p>
                  </a:txBody>
                  <a:tcPr marL="73152" marR="73152" marT="36576" marB="36576" anchor="ctr">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r>
              <a:tr h="502920">
                <a:tc>
                  <a:txBody>
                    <a:bodyPr/>
                    <a:lstStyle/>
                    <a:p>
                      <a:pPr indent="0" marL="0">
                        <a:buNone/>
                      </a:pPr>
                      <a:r>
                        <a:rPr lang="en-US" sz="1100" dirty="0">
                          <a:solidFill>
                            <a:srgbClr val="F5F5F5"/>
                          </a:solidFill>
                        </a:rPr>
                        <a:t>Rotation job fails loudly and pages on-call; both nodes verified</a:t>
                      </a:r>
                      <a:endParaRPr lang="en-US" sz="1100" dirty="0"/>
                    </a:p>
                  </a:txBody>
                  <a:tcPr marL="73152" marR="73152" marT="36576" marB="36576" anchor="ctr">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c>
                  <a:txBody>
                    <a:bodyPr/>
                    <a:lstStyle/>
                    <a:p>
                      <a:pPr indent="0" marL="0">
                        <a:buNone/>
                      </a:pPr>
                      <a:r>
                        <a:rPr lang="en-US" sz="1100" dirty="0">
                          <a:solidFill>
                            <a:srgbClr val="BDBDBD"/>
                          </a:solidFill>
                        </a:rPr>
                        <a:t>Platform Eng.</a:t>
                      </a:r>
                      <a:endParaRPr lang="en-US" sz="1100" dirty="0"/>
                    </a:p>
                  </a:txBody>
                  <a:tcPr marL="73152" marR="73152" marT="36576" marB="36576" anchor="ctr">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c>
                  <a:txBody>
                    <a:bodyPr/>
                    <a:lstStyle/>
                    <a:p>
                      <a:pPr indent="0" marL="0">
                        <a:buNone/>
                      </a:pPr>
                      <a:r>
                        <a:rPr lang="en-US" sz="1100" dirty="0">
                          <a:solidFill>
                            <a:srgbClr val="BDBDBD"/>
                          </a:solidFill>
                        </a:rPr>
                        <a:t>17 Oct</a:t>
                      </a:r>
                      <a:endParaRPr lang="en-US" sz="1100" dirty="0"/>
                    </a:p>
                  </a:txBody>
                  <a:tcPr marL="73152" marR="73152" marT="36576" marB="36576" anchor="ctr">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c>
                  <a:txBody>
                    <a:bodyPr/>
                    <a:lstStyle/>
                    <a:p>
                      <a:pPr indent="0" marL="0">
                        <a:buNone/>
                      </a:pPr>
                      <a:r>
                        <a:rPr lang="en-US" sz="1100" b="1" dirty="0">
                          <a:solidFill>
                            <a:srgbClr val="FAB219"/>
                          </a:solidFill>
                        </a:rPr>
                        <a:t>● </a:t>
                      </a:r>
                      <a:pPr indent="0" marL="0">
                        <a:buNone/>
                      </a:pPr>
                      <a:r>
                        <a:rPr lang="en-US" sz="1100" dirty="0">
                          <a:solidFill>
                            <a:srgbClr val="F5F5F5"/>
                          </a:solidFill>
                        </a:rPr>
                        <a:t>In progress</a:t>
                      </a:r>
                      <a:endParaRPr lang="en-US" sz="1100" dirty="0"/>
                    </a:p>
                  </a:txBody>
                  <a:tcPr marL="73152" marR="73152" marT="36576" marB="36576" anchor="ctr">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r>
              <a:tr h="502920">
                <a:tc>
                  <a:txBody>
                    <a:bodyPr/>
                    <a:lstStyle/>
                    <a:p>
                      <a:pPr indent="0" marL="0">
                        <a:buNone/>
                      </a:pPr>
                      <a:r>
                        <a:rPr lang="en-US" sz="1100" dirty="0">
                          <a:solidFill>
                            <a:srgbClr val="F5F5F5"/>
                          </a:solidFill>
                        </a:rPr>
                        <a:t>Login availability on the customer status page within 15 minutes</a:t>
                      </a:r>
                      <a:endParaRPr lang="en-US" sz="1100" dirty="0"/>
                    </a:p>
                  </a:txBody>
                  <a:tcPr marL="73152" marR="73152" marT="36576" marB="36576" anchor="ctr">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c>
                  <a:txBody>
                    <a:bodyPr/>
                    <a:lstStyle/>
                    <a:p>
                      <a:pPr indent="0" marL="0">
                        <a:buNone/>
                      </a:pPr>
                      <a:r>
                        <a:rPr lang="en-US" sz="1100" dirty="0">
                          <a:solidFill>
                            <a:srgbClr val="BDBDBD"/>
                          </a:solidFill>
                        </a:rPr>
                        <a:t>Digital Channels</a:t>
                      </a:r>
                      <a:endParaRPr lang="en-US" sz="1100" dirty="0"/>
                    </a:p>
                  </a:txBody>
                  <a:tcPr marL="73152" marR="73152" marT="36576" marB="36576" anchor="ctr">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c>
                  <a:txBody>
                    <a:bodyPr/>
                    <a:lstStyle/>
                    <a:p>
                      <a:pPr indent="0" marL="0">
                        <a:buNone/>
                      </a:pPr>
                      <a:r>
                        <a:rPr lang="en-US" sz="1100" dirty="0">
                          <a:solidFill>
                            <a:srgbClr val="BDBDBD"/>
                          </a:solidFill>
                        </a:rPr>
                        <a:t>31 Oct</a:t>
                      </a:r>
                      <a:endParaRPr lang="en-US" sz="1100" dirty="0"/>
                    </a:p>
                  </a:txBody>
                  <a:tcPr marL="73152" marR="73152" marT="36576" marB="36576" anchor="ctr">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c>
                  <a:txBody>
                    <a:bodyPr/>
                    <a:lstStyle/>
                    <a:p>
                      <a:pPr indent="0" marL="0">
                        <a:buNone/>
                      </a:pPr>
                      <a:r>
                        <a:rPr lang="en-US" sz="1100" b="1" dirty="0">
                          <a:solidFill>
                            <a:srgbClr val="9E9E9E"/>
                          </a:solidFill>
                        </a:rPr>
                        <a:t>● </a:t>
                      </a:r>
                      <a:pPr indent="0" marL="0">
                        <a:buNone/>
                      </a:pPr>
                      <a:r>
                        <a:rPr lang="en-US" sz="1100" dirty="0">
                          <a:solidFill>
                            <a:srgbClr val="F5F5F5"/>
                          </a:solidFill>
                        </a:rPr>
                        <a:t>Open</a:t>
                      </a:r>
                      <a:endParaRPr lang="en-US" sz="1100" dirty="0"/>
                    </a:p>
                  </a:txBody>
                  <a:tcPr marL="73152" marR="73152" marT="36576" marB="36576" anchor="ctr">
                    <a:lnL w="0" cap="flat" cmpd="sng" algn="ctr">
                      <a:noFill/>
                    </a:lnL>
                    <a:lnR w="0" cap="flat" cmpd="sng" algn="ctr">
                      <a:noFill/>
                    </a:lnR>
                    <a:lnT w="6350" cap="flat" cmpd="sng" algn="ctr">
                      <a:solidFill>
                        <a:srgbClr val="4A4A4A"/>
                      </a:solidFill>
                      <a:prstDash val="solid"/>
                      <a:round/>
                      <a:headEnd type="none" w="med" len="med"/>
                      <a:tailEnd type="none" w="med" len="med"/>
                    </a:lnT>
                    <a:lnB w="6350" cap="flat" cmpd="sng" algn="ctr">
                      <a:solidFill>
                        <a:srgbClr val="4A4A4A"/>
                      </a:solidFill>
                      <a:prstDash val="solid"/>
                      <a:round/>
                      <a:headEnd type="none" w="med" len="med"/>
                      <a:tailEnd type="none" w="med" len="med"/>
                    </a:lnB>
                  </a:tcPr>
                </a:tc>
              </a:tr>
            </a:tbl>
          </a:graphicData>
        </a:graphic>
      </p:graphicFrame>
    </p:spTree>
  </p:cSld>
  <p:clrMapOvr>
    <a:masterClrMapping/>
  </p:clrMapOvr>
</p:sld>
</file>

<file path=ppt/theme/theme1.xml><?xml version="1.0" encoding="utf-8"?>
<a:theme xmlns:a="http://schemas.openxmlformats.org/drawingml/2006/main" name="Graphite">
  <a:themeElements>
    <a:clrScheme name="Graphite">
      <a:dk1>
        <a:srgbClr val="F5F5F5"/>
      </a:dk1>
      <a:lt1>
        <a:srgbClr val="232323"/>
      </a:lt1>
      <a:dk2>
        <a:srgbClr val="BDBDBD"/>
      </a:dk2>
      <a:lt2>
        <a:srgbClr val="303030"/>
      </a:lt2>
      <a:accent1>
        <a:srgbClr val="FAB219"/>
      </a:accent1>
      <a:accent2>
        <a:srgbClr val="E66767"/>
      </a:accent2>
      <a:accent3>
        <a:srgbClr val="66BB6A"/>
      </a:accent3>
      <a:accent4>
        <a:srgbClr val="64B5F6"/>
      </a:accent4>
      <a:accent5>
        <a:srgbClr val="9E9E9E"/>
      </a:accent5>
      <a:accent6>
        <a:srgbClr val="CE93D8"/>
      </a:accent6>
      <a:hlink>
        <a:srgbClr val="FAB219"/>
      </a:hlink>
      <a:folHlink>
        <a:srgbClr val="BDBDBD"/>
      </a:folHlink>
    </a:clrScheme>
    <a:fontScheme name="Graphi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Consumer Banking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INC-4471: mobile banking login degraded for 2h 14m on 29 September — root cause fixed, two actions open</dc:title>
  <dc:subject>One-slide manager report template</dc:subject>
  <dc:creator>Consumer Banking</dc:creator>
  <cp:lastModifiedBy>Consumer Banking</cp:lastModifiedBy>
  <cp:revision>1</cp:revision>
  <dcterms:created xsi:type="dcterms:W3CDTF">2026-10-05T12:54:21Z</dcterms:created>
  <dcterms:modified xsi:type="dcterms:W3CDTF">2026-10-05T12:54:21Z</dcterms:modified>
</cp:coreProperties>
</file>