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cision memo" id="{957ae5e8-5421-f73e-fe0e-6b56b75cf57e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Decision memo. Left: situation in four lines, why it matters in three bullets, the deadline. Right: options compared on the same criteria, recommended option tinted. Bottom: recommendation in one sentence plus the exact asks. The title states the recommendation so a reader who stops there still knows what you want.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_PAG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729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Action title: the one sentence you want remembered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280160"/>
            <a:ext cx="1127729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Period · audience · owner · date</a:t>
            </a:r>
            <a:endParaRPr lang="en-US" sz="1200" dirty="0"/>
          </a:p>
        </p:txBody>
      </p:sp>
      <p:sp>
        <p:nvSpPr>
          <p:cNvPr id="4" name="Text 0"/>
          <p:cNvSpPr txBox="1"/>
          <p:nvPr/>
        </p:nvSpPr>
        <p:spPr>
          <a:xfrm>
            <a:off x="457200" y="64465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All figures are illustrative and for template use only  ·  Consumer Banking  ·  Replace with actuals before distribution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Decision required: pass through 15 of the 25 bps Fed cut to high-yield savings, not the full amount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28016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Decision memo  ·  Pricing Committee pre-read  ·  Decision owner: Head of Consumer Banking  ·  Required by: 15 October 2026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7830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SITUATION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057400"/>
            <a:ext cx="3566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Fed cut rates by 25 bps on 17 September. Three of our five closest competitors have already lowered high-yield savings (HYS) rates by 20–25 bps; two have held. Our HYS book is $14.8bn at 4.10% and produced roughly 60% of deposit growth over the last 18 months.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4747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WHY IT MATTERS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749040"/>
            <a:ext cx="3566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Every 10 bps on HYS is worth about $15m of annualised net interest income</a:t>
            </a:r>
            <a:endParaRPr lang="en-US" sz="120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HYS customers are 2.3× more rate-sensitive than core savers</a:t>
            </a:r>
            <a:endParaRPr lang="en-US" sz="120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Pricing changes take 10 business days to implement and 30 days' notice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5212080"/>
            <a:ext cx="35661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85800" y="53492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tx2"/>
                </a:solidFill>
              </a:rPr>
              <a:t>DECISION NEEDED BY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5577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15 October 2026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59436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Pricing Committee, agenda item 2</a:t>
            </a:r>
            <a:endParaRPr lang="en-US" sz="1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43400" y="1783080"/>
          <a:ext cx="7391095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828800"/>
                <a:gridCol w="1947672"/>
                <a:gridCol w="18288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6E5B63"/>
                          </a:solidFill>
                        </a:rPr>
                        <a:t>CRITERIA</a:t>
                      </a:r>
                      <a:endParaRPr lang="en-US" sz="900" dirty="0"/>
                    </a:p>
                  </a:txBody>
                  <a:tcPr marL="73152" marR="73152" marT="36576" marB="36576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1A22"/>
                          </a:solidFill>
                        </a:rPr>
                        <a:t>A · Match market (−25 bps)</a:t>
                      </a:r>
                      <a:endParaRPr lang="en-US" sz="1100" dirty="0"/>
                    </a:p>
                  </a:txBody>
                  <a:tcPr marL="73152" marR="73152" marT="36576" marB="36576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1A22"/>
                          </a:solidFill>
                        </a:rPr>
                        <a:t>B · Partial pass-through (−15 bps)</a:t>
                      </a:r>
                      <a:pPr indent="0" marL="0">
                        <a:buNone/>
                      </a:pP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6D2E46"/>
                          </a:solidFill>
                        </a:rPr>
                        <a:t>RECOMMENDED</a:t>
                      </a:r>
                      <a:endParaRPr lang="en-US" sz="1100" dirty="0"/>
                    </a:p>
                  </a:txBody>
                  <a:tcPr marL="73152" marR="73152" marT="36576" marB="36576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1A22"/>
                          </a:solidFill>
                        </a:rPr>
                        <a:t>C · Hold (0 bps)</a:t>
                      </a:r>
                      <a:endParaRPr lang="en-US" sz="1100" dirty="0"/>
                    </a:p>
                  </a:txBody>
                  <a:tcPr marL="73152" marR="73152" marT="36576" marB="36576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1A22"/>
                          </a:solidFill>
                        </a:rPr>
                        <a:t>12-month NII impact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E5B63"/>
                          </a:solidFill>
                        </a:rPr>
                        <a:t>+$37m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A22"/>
                          </a:solidFill>
                        </a:rPr>
                        <a:t>+$22m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E5B63"/>
                          </a:solidFill>
                        </a:rPr>
                        <a:t>$0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1A22"/>
                          </a:solidFill>
                        </a:rPr>
                        <a:t>Modelled balance attrition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E5B63"/>
                          </a:solidFill>
                        </a:rPr>
                        <a:t>1.8% (≈$270m)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A22"/>
                          </a:solidFill>
                        </a:rPr>
                        <a:t>0.6% (≈$90m)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E5B63"/>
                          </a:solidFill>
                        </a:rPr>
                        <a:t>None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1A22"/>
                          </a:solidFill>
                        </a:rPr>
                        <a:t>Competitive position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E5B63"/>
                          </a:solidFill>
                        </a:rPr>
                        <a:t>Bottom quartile on rate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A22"/>
                          </a:solidFill>
                        </a:rPr>
                        <a:t>Mid-market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E5B63"/>
                          </a:solidFill>
                        </a:rPr>
                        <a:t>Top quartile, costly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1A22"/>
                          </a:solidFill>
                        </a:rPr>
                        <a:t>Customer and conduct risk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E5B63"/>
                          </a:solidFill>
                        </a:rPr>
                        <a:t>Medium: visible cut, complaint uptick likely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A22"/>
                          </a:solidFill>
                        </a:rPr>
                        <a:t>Low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E5B63"/>
                          </a:solidFill>
                        </a:rPr>
                        <a:t>Low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1A22"/>
                          </a:solidFill>
                        </a:rPr>
                        <a:t>Reversibility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E5B63"/>
                          </a:solidFill>
                        </a:rPr>
                        <a:t>Hard to re-raise later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A22"/>
                          </a:solidFill>
                        </a:rPr>
                        <a:t>Flexible: second step in December if needed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E5B63"/>
                          </a:solidFill>
                        </a:rPr>
                        <a:t>Flexible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1A22"/>
                          </a:solidFill>
                        </a:rPr>
                        <a:t>Assessment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E5B63"/>
                          </a:solidFill>
                        </a:rPr>
                        <a:t>○  Not recommended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CA30C"/>
                          </a:solidFill>
                        </a:rPr>
                        <a:t>● 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1A22"/>
                          </a:solidFill>
                        </a:rPr>
                        <a:t>Recommended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E5B63"/>
                          </a:solidFill>
                        </a:rPr>
                        <a:t>○  Not recommended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4343400" y="5212080"/>
            <a:ext cx="7391095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4572000" y="5321808"/>
            <a:ext cx="6933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Recommendation — Option B: reduce HYS to 3.95% effective 1 November and review in December. </a:t>
            </a:r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Captures ~60% of the available NII while keeping attrition inside tolerance and preserving a second step. Asks: (1) approve Option B; (2) approve the 30-day customer notice; (3) agree the December review trigger — attrition above 1% or a competitor move above 20 bps.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rry">
  <a:themeElements>
    <a:clrScheme name="Berry">
      <a:dk1>
        <a:srgbClr val="2B1A22"/>
      </a:dk1>
      <a:lt1>
        <a:srgbClr val="FFFFFF"/>
      </a:lt1>
      <a:dk2>
        <a:srgbClr val="6E5B63"/>
      </a:dk2>
      <a:lt2>
        <a:srgbClr val="F6EFEA"/>
      </a:lt2>
      <a:accent1>
        <a:srgbClr val="6D2E46"/>
      </a:accent1>
      <a:accent2>
        <a:srgbClr val="A26769"/>
      </a:accent2>
      <a:accent3>
        <a:srgbClr val="C9A3A5"/>
      </a:accent3>
      <a:accent4>
        <a:srgbClr val="E3CFC7"/>
      </a:accent4>
      <a:accent5>
        <a:srgbClr val="8A4A5E"/>
      </a:accent5>
      <a:accent6>
        <a:srgbClr val="3E5C76"/>
      </a:accent6>
      <a:hlink>
        <a:srgbClr val="6D2E46"/>
      </a:hlink>
      <a:folHlink>
        <a:srgbClr val="6E5B63"/>
      </a:folHlink>
    </a:clrScheme>
    <a:fontScheme name="Berry">
      <a:majorFont>
        <a:latin typeface="Century Schoolboo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Consumer Banking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 required: pass through 15 of the 25 bps Fed cut to high-yield savings, not the full amount</dc:title>
  <dc:subject>One-slide manager report template</dc:subject>
  <dc:creator>Consumer Banking</dc:creator>
  <cp:lastModifiedBy>Consumer Banking</cp:lastModifiedBy>
  <cp:revision>1</cp:revision>
  <dcterms:created xsi:type="dcterms:W3CDTF">2026-10-05T12:57:55Z</dcterms:created>
  <dcterms:modified xsi:type="dcterms:W3CDTF">2026-10-05T12:57:55Z</dcterms:modified>
</cp:coreProperties>
</file>