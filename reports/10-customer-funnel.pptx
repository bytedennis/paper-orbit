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ustomer funnel" id="{4cb40282-07f0-7db0-ad8c-64fa8a51b9f1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100" b="0" i="0" u="none" strike="noStrike">
                <a:solidFill>
                  <a:srgbClr val="1F234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F2340"/>
                </a:solidFill>
                <a:latin typeface="+mn-lt"/>
              </a:rPr>
              <a:t>Customers at each stage, thousands — September 2026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</c:v>
                </c:pt>
              </c:strCache>
            </c:strRef>
          </c:tx>
          <c:spPr>
            <a:solidFill>
              <a:srgbClr val="2F3C7E"/>
            </a:solidFill>
            <a:effectLst/>
          </c:spPr>
          <c:invertIfNegative val="0"/>
          <c:dLbls>
            <c:numFmt formatCode="#,##0.0&quot;k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F648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Landing page visits</c:v>
                  </c:pt>
                  <c:pt idx="1">
                    <c:v>Application started</c:v>
                  </c:pt>
                  <c:pt idx="2">
                    <c:v>Identity verified</c:v>
                  </c:pt>
                  <c:pt idx="3">
                    <c:v>Application submitted</c:v>
                  </c:pt>
                  <c:pt idx="4">
                    <c:v>Approved</c:v>
                  </c:pt>
                  <c:pt idx="5">
                    <c:v>Funded (first deposit)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412</c:v>
                </c:pt>
                <c:pt idx="1">
                  <c:v>96.3</c:v>
                </c:pt>
                <c:pt idx="2">
                  <c:v>51.2</c:v>
                </c:pt>
                <c:pt idx="3">
                  <c:v>38.9</c:v>
                </c:pt>
                <c:pt idx="4">
                  <c:v>32.1</c:v>
                </c:pt>
                <c:pt idx="5">
                  <c:v>29.8</c:v>
                </c:pt>
              </c:numCache>
            </c:numRef>
          </c:val>
        </c:ser>
        <c:dLbls>
          <c:numFmt formatCode="#,##0.0&quot;k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5F648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3C2B7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4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0"/>
          <c:min val="0"/>
        </c:scaling>
        <c:delete val="0"/>
        <c:axPos val="b"/>
        <c:majorGridlines>
          <c:spPr>
            <a:ln w="6350" cap="flat">
              <a:solidFill>
                <a:srgbClr val="E1E0D9"/>
              </a:solidFill>
              <a:prstDash val="solid"/>
              <a:round/>
            </a:ln>
          </c:spPr>
        </c:majorGridlines>
        <c:numFmt formatCode="0&quot;k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4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Customer funnel. Left: one bar per stage, same colour, values labelled. Right: step-by-step conversion against benchmark, with the weakest step highlighted. Below: where the leak is in one sentence, then the actions with dates and the expected uplift.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NE_PAG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Action title: the one sentence you want remembered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Period · audience · owner · date</a:t>
            </a:r>
            <a:endParaRPr lang="en-US" sz="1200" dirty="0"/>
          </a:p>
        </p:txBody>
      </p:sp>
      <p:sp>
        <p:nvSpPr>
          <p:cNvPr id="4" name="Text 0"/>
          <p:cNvSpPr txBox="1"/>
          <p:nvPr/>
        </p:nvSpPr>
        <p:spPr>
          <a:xfrm>
            <a:off x="457200" y="64465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All figures are illustrative and for template use only  ·  Consumer Banking  ·  Replace with actuals before distribution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Digital account opening converts 31% of started applications to funded accounts; identity verification is the biggest leak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Digital checking acquisition funnel, September 2026  ·  Monthly growth review  ·  Source: Digital analytics (illustrative)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783080"/>
          <a:ext cx="63093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783080"/>
          <a:ext cx="464789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68680"/>
                <a:gridCol w="914400"/>
                <a:gridCol w="944575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5F6480"/>
                          </a:solidFill>
                        </a:rPr>
                        <a:t>STEP</a:t>
                      </a:r>
                      <a:endParaRPr lang="en-US" sz="900" dirty="0"/>
                    </a:p>
                  </a:txBody>
                  <a:tcPr marL="73152" marR="73152" marT="36576" marB="36576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5F6480"/>
                          </a:solidFill>
                        </a:rPr>
                        <a:t>CONVERSION</a:t>
                      </a:r>
                      <a:endParaRPr lang="en-US" sz="900" dirty="0"/>
                    </a:p>
                  </a:txBody>
                  <a:tcPr marL="73152" marR="73152" marT="36576" marB="36576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5F6480"/>
                          </a:solidFill>
                        </a:rPr>
                        <a:t>BENCHMARK</a:t>
                      </a:r>
                      <a:endParaRPr lang="en-US" sz="900" dirty="0"/>
                    </a:p>
                  </a:txBody>
                  <a:tcPr marL="73152" marR="73152" marT="36576" marB="36576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5F6480"/>
                          </a:solidFill>
                        </a:rPr>
                        <a:t>GAP</a:t>
                      </a:r>
                      <a:endParaRPr lang="en-US" sz="900" dirty="0"/>
                    </a:p>
                  </a:txBody>
                  <a:tcPr marL="73152" marR="73152" marT="36576" marB="36576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40"/>
                          </a:solidFill>
                        </a:rPr>
                        <a:t>Visit → Start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340"/>
                          </a:solidFill>
                        </a:rPr>
                        <a:t>23.4%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F6480"/>
                          </a:solidFill>
                        </a:rPr>
                        <a:t>20–25%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6300"/>
                          </a:solidFill>
                        </a:rPr>
                        <a:t>In range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340"/>
                          </a:solidFill>
                        </a:rPr>
                        <a:t>Start → ID verified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340"/>
                          </a:solidFill>
                        </a:rPr>
                        <a:t>53.2%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F6480"/>
                          </a:solidFill>
                        </a:rPr>
                        <a:t>70%+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B3261E"/>
                          </a:solidFill>
                        </a:rPr>
                        <a:t>−17 pts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40"/>
                          </a:solidFill>
                        </a:rPr>
                        <a:t>ID verified → Submitted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340"/>
                          </a:solidFill>
                        </a:rPr>
                        <a:t>76.0%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F6480"/>
                          </a:solidFill>
                        </a:rPr>
                        <a:t>80%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A5A00"/>
                          </a:solidFill>
                        </a:rPr>
                        <a:t>−4 pts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40"/>
                          </a:solidFill>
                        </a:rPr>
                        <a:t>Submitted → Approved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340"/>
                          </a:solidFill>
                        </a:rPr>
                        <a:t>82.5%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F6480"/>
                          </a:solidFill>
                        </a:rPr>
                        <a:t>80–85%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6300"/>
                          </a:solidFill>
                        </a:rPr>
                        <a:t>In range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40"/>
                          </a:solidFill>
                        </a:rPr>
                        <a:t>Approved → Funded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340"/>
                          </a:solidFill>
                        </a:rPr>
                        <a:t>92.8%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F6480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6300"/>
                          </a:solidFill>
                        </a:rPr>
                        <a:t>In range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40"/>
                          </a:solidFill>
                        </a:rPr>
                        <a:t>Start → Funded (end to end)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340"/>
                          </a:solidFill>
                        </a:rPr>
                        <a:t>30.9%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F6480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B3261E"/>
                          </a:solidFill>
                        </a:rPr>
                        <a:t>−14 pts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7086600" y="4297680"/>
            <a:ext cx="4647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2"/>
                </a:solidFill>
              </a:rPr>
              <a:t>WHERE THE LEAK IS</a:t>
            </a:r>
            <a:endParaRPr lang="en-US" sz="1000" dirty="0"/>
          </a:p>
        </p:txBody>
      </p:sp>
      <p:sp>
        <p:nvSpPr>
          <p:cNvPr id="8" name="Text 3"/>
          <p:cNvSpPr txBox="1"/>
          <p:nvPr/>
        </p:nvSpPr>
        <p:spPr>
          <a:xfrm>
            <a:off x="7086600" y="4544568"/>
            <a:ext cx="4647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47% of applicants drop at identity verification; 61% of those fail document photo capture on the first attempt, with Android failing at twice the iOS rate.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7086600" y="5349240"/>
            <a:ext cx="46478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2"/>
                </a:solidFill>
              </a:rPr>
              <a:t>ACTIONS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086600" y="5596128"/>
            <a:ext cx="4647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Ship in-app document capture with live guidance (November)</a:t>
            </a:r>
            <a:endParaRPr lang="en-US" sz="12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Add save-and-resume with an SMS link (October)</a:t>
            </a:r>
            <a:endParaRPr lang="en-US" sz="12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Expected uplift: +6.1k funded accounts a month at current traffic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ral">
  <a:themeElements>
    <a:clrScheme name="Coral">
      <a:dk1>
        <a:srgbClr val="1F2340"/>
      </a:dk1>
      <a:lt1>
        <a:srgbClr val="FFFFFF"/>
      </a:lt1>
      <a:dk2>
        <a:srgbClr val="5F6480"/>
      </a:dk2>
      <a:lt2>
        <a:srgbClr val="FFF1F0"/>
      </a:lt2>
      <a:accent1>
        <a:srgbClr val="2F3C7E"/>
      </a:accent1>
      <a:accent2>
        <a:srgbClr val="F96167"/>
      </a:accent2>
      <a:accent3>
        <a:srgbClr val="F9E795"/>
      </a:accent3>
      <a:accent4>
        <a:srgbClr val="8C94C9"/>
      </a:accent4>
      <a:accent5>
        <a:srgbClr val="C94A50"/>
      </a:accent5>
      <a:accent6>
        <a:srgbClr val="3F8F7B"/>
      </a:accent6>
      <a:hlink>
        <a:srgbClr val="2F3C7E"/>
      </a:hlink>
      <a:folHlink>
        <a:srgbClr val="5F6480"/>
      </a:folHlink>
    </a:clrScheme>
    <a:fontScheme name="Cora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Consumer Banking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account opening converts 31% of started applications to funded accounts; identity verification is the biggest leak</dc:title>
  <dc:subject>One-slide manager report template</dc:subject>
  <dc:creator>Consumer Banking</dc:creator>
  <cp:lastModifiedBy>Consumer Banking</cp:lastModifiedBy>
  <cp:revision>1</cp:revision>
  <dcterms:created xsi:type="dcterms:W3CDTF">2026-10-05T12:54:21Z</dcterms:created>
  <dcterms:modified xsi:type="dcterms:W3CDTF">2026-10-05T12:54:21Z</dcterms:modified>
</cp:coreProperties>
</file>