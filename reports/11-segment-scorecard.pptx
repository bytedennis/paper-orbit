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gment scorecard" id="{21871f3c-e55a-d351-5e5a-7a8d1963054a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Segment scorecard (heat table). One row per product, one column per measure, each cell carrying the value, a direction marker and a tint for ahead or behind target. The overall column is a word plus a colour. Three highlight cards below say what to do about the cells that are not green.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_PAG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Action title: the one sentence you want remembered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Period · audience · owner · date</a:t>
            </a:r>
            <a:endParaRPr lang="en-US" sz="1200" dirty="0"/>
          </a:p>
        </p:txBody>
      </p:sp>
      <p:sp>
        <p:nvSpPr>
          <p:cNvPr id="4" name="Text 0"/>
          <p:cNvSpPr txBox="1"/>
          <p:nvPr/>
        </p:nvSpPr>
        <p:spPr>
          <a:xfrm>
            <a:off x="457200" y="64465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All figures are illustrative and for template use only  ·  Consumer Banking  ·  Replace with actuals before distribution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Product scorecard, September 2026: deposits and mortgages healthy; cards and personal loans flagged on credit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Six products × six measures vs target  ·  Monthly business review  ·  ▲ ahead of target   ● on target   ▼ behind  ·  Source: Product MI (illustrative)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72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325880"/>
                <a:gridCol w="1325880"/>
                <a:gridCol w="1508760"/>
                <a:gridCol w="960120"/>
                <a:gridCol w="1600200"/>
                <a:gridCol w="1463040"/>
                <a:gridCol w="135331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4B5563"/>
                          </a:solidFill>
                        </a:rPr>
                        <a:t>PRODUCT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4B5563"/>
                          </a:solidFill>
                        </a:rPr>
                        <a:t>BALANCES $BN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4B5563"/>
                          </a:solidFill>
                        </a:rPr>
                        <a:t>GROWTH YOY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4B5563"/>
                          </a:solidFill>
                        </a:rPr>
                        <a:t>NET NEW CUSTOMERS, K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4B5563"/>
                          </a:solidFill>
                        </a:rPr>
                        <a:t>NPS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4B5563"/>
                          </a:solidFill>
                        </a:rPr>
                        <a:t>30+ DPD / CHURN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4B5563"/>
                          </a:solidFill>
                        </a:rPr>
                        <a:t>DIGITAL SALES SHARE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4B5563"/>
                          </a:solidFill>
                        </a:rPr>
                        <a:t>OVERALL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</a:rPr>
                        <a:t>Checking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21.4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+2.8%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6300"/>
                          </a:solidFill>
                        </a:rPr>
                        <a:t>▲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+26.1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6300"/>
                          </a:solidFill>
                        </a:rPr>
                        <a:t>▲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41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6300"/>
                          </a:solidFill>
                        </a:rPr>
                        <a:t>▲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9.8% churn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98781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71%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6300"/>
                          </a:solidFill>
                        </a:rPr>
                        <a:t>▲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CA30C"/>
                          </a:solidFill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On track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</a:rPr>
                        <a:t>Savings &amp; CDs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26.8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+6.9%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6300"/>
                          </a:solidFill>
                        </a:rPr>
                        <a:t>▲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+18.4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6300"/>
                          </a:solidFill>
                        </a:rPr>
                        <a:t>▲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38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98781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7.1% churn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6300"/>
                          </a:solidFill>
                        </a:rPr>
                        <a:t>▲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64%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98781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CA30C"/>
                          </a:solidFill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On track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</a:rPr>
                        <a:t>Credit cards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6.2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+4.1%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98781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+9.7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98781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29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</a:rPr>
                        <a:t>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1.42% DPD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</a:rPr>
                        <a:t>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58%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98781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AB219"/>
                          </a:solidFill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Watch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</a:rPr>
                        <a:t>Mortgages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19.8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+1.2%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98781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+1.1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98781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46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6300"/>
                          </a:solidFill>
                        </a:rPr>
                        <a:t>▲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0.61% DPD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6300"/>
                          </a:solidFill>
                        </a:rPr>
                        <a:t>▲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22%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</a:rPr>
                        <a:t>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CA30C"/>
                          </a:solidFill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On track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</a:rPr>
                        <a:t>Auto loans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3.9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−3.5%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</a:rPr>
                        <a:t>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−0.6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</a:rPr>
                        <a:t>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35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98781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0.98% DPD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98781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31%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98781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AB219"/>
                          </a:solidFill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Watch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</a:rPr>
                        <a:t>Personal loans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1.7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+11.2%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6300"/>
                          </a:solidFill>
                        </a:rPr>
                        <a:t>▲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+4.2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6300"/>
                          </a:solidFill>
                        </a:rPr>
                        <a:t>▲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33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98781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2.35% DPD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</a:rPr>
                        <a:t>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83% 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6300"/>
                          </a:solidFill>
                        </a:rPr>
                        <a:t>▲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03B3B"/>
                          </a:solidFill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Action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5120640"/>
            <a:ext cx="3606698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640080" y="5230368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Deposits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5504688"/>
            <a:ext cx="32409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+$2.1bn YoY, 78% of it from savings; the $3.2bn of Q4 CD maturities is the retention test.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292498" y="5120640"/>
            <a:ext cx="3606698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475378" y="5230368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Credit cards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75378" y="5504688"/>
            <a:ext cx="32409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Delinquency +18 bps QoQ and NPS −3; line-increase pause in place, collections hiring behind plan.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127797" y="5120640"/>
            <a:ext cx="3606698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310677" y="5230368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Personal loans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8310677" y="5504688"/>
            <a:ext cx="32409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Growth of 11% but 30+ DPD at 2.35% against a 1.90% target; tighten the DTI cut-off below 680 FICO.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late and Amber">
  <a:themeElements>
    <a:clrScheme name="Slate and Amber">
      <a:dk1>
        <a:srgbClr val="1F2937"/>
      </a:dk1>
      <a:lt1>
        <a:srgbClr val="FFFFFF"/>
      </a:lt1>
      <a:dk2>
        <a:srgbClr val="4B5563"/>
      </a:dk2>
      <a:lt2>
        <a:srgbClr val="F3F4F6"/>
      </a:lt2>
      <a:accent1>
        <a:srgbClr val="0E7490"/>
      </a:accent1>
      <a:accent2>
        <a:srgbClr val="B45309"/>
      </a:accent2>
      <a:accent3>
        <a:srgbClr val="64748B"/>
      </a:accent3>
      <a:accent4>
        <a:srgbClr val="CBD5E1"/>
      </a:accent4>
      <a:accent5>
        <a:srgbClr val="155E75"/>
      </a:accent5>
      <a:accent6>
        <a:srgbClr val="7C3AED"/>
      </a:accent6>
      <a:hlink>
        <a:srgbClr val="0E7490"/>
      </a:hlink>
      <a:folHlink>
        <a:srgbClr val="4B5563"/>
      </a:folHlink>
    </a:clrScheme>
    <a:fontScheme name="Slate and Ambe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Consumer Banking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 scorecard, September 2026: deposits and mortgages healthy; cards and personal loans flagged on credit</dc:title>
  <dc:subject>One-slide manager report template</dc:subject>
  <dc:creator>Consumer Banking</dc:creator>
  <cp:lastModifiedBy>Consumer Banking</cp:lastModifiedBy>
  <cp:revision>1</cp:revision>
  <dcterms:created xsi:type="dcterms:W3CDTF">2026-10-05T12:54:21Z</dcterms:created>
  <dcterms:modified xsi:type="dcterms:W3CDTF">2026-10-05T12:54:21Z</dcterms:modified>
</cp:coreProperties>
</file>