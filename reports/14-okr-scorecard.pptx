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KR scorecard" id="{bd7d50c8-6ba5-bff5-6edc-52af87399f5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OKR scorecard. One column per objective, three key results each, with a progress bar and a confidence pill that carries a word as well as a colour. The bottom line is the change you want agreed, with a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Action title: the one sentence you want remembered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Period · audience · owner · date</a:t>
            </a:r>
            <a:endParaRPr lang="en-US" sz="12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figures are illustrative and for template use only  ·  Consumer Banking  ·  Replace with actuals before distribution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Q3 OKR scorecard: two of three objectives on track; card-risk key results are behind and need a Q4 reset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Q3 2026 quarter-end  ·  Consumer Banking leadership team  ·  Bar = progress to target  ·  Pill = confidence of hitting target by year-end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360669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892808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O1 · OBJECTIVE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30552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Grow primary relationships profitably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834640"/>
            <a:ext cx="3606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KR1  Net new primary checking customers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3606698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291840"/>
            <a:ext cx="3173895" cy="1097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3456432"/>
            <a:ext cx="26008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212k of 240k target  ·  88%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49498" y="345643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49498" y="3456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300"/>
                </a:solidFill>
              </a:rPr>
              <a:t>On track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840480"/>
            <a:ext cx="3606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KR2  Deposit growth year on year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297680"/>
            <a:ext cx="3606698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297680"/>
            <a:ext cx="3606698" cy="1097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4462272"/>
            <a:ext cx="26008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4.1% vs 4.0% target  ·  100%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149498" y="446227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49498" y="44622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300"/>
                </a:solidFill>
              </a:rPr>
              <a:t>Achieved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846320"/>
            <a:ext cx="3606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KR3  Cost of funds at or below 2.10%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5303520"/>
            <a:ext cx="3606698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5303520"/>
            <a:ext cx="2164019" cy="1097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5468112"/>
            <a:ext cx="26008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2.18% at quarter end  ·  60%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149498" y="546811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149498" y="5468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At risk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292498" y="1783080"/>
            <a:ext cx="360669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475378" y="1892808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O2 · OBJECTIVE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475378" y="2130552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Make digital the default channel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292498" y="2834640"/>
            <a:ext cx="3606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KR1  Digital active customers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292498" y="3291840"/>
            <a:ext cx="3606698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92498" y="3291840"/>
            <a:ext cx="3498497" cy="1097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292498" y="3456432"/>
            <a:ext cx="26008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68% vs 70% target  ·  97%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984797" y="345643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984797" y="3456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300"/>
                </a:solidFill>
              </a:rPr>
              <a:t>On track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4292498" y="3840480"/>
            <a:ext cx="3606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KR2  Digital share of sales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292498" y="4297680"/>
            <a:ext cx="3606698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92498" y="4297680"/>
            <a:ext cx="3534564" cy="1097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292498" y="4462272"/>
            <a:ext cx="26008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54% vs 55% target  ·  98%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984797" y="446227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984797" y="44622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300"/>
                </a:solidFill>
              </a:rPr>
              <a:t>On track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4292498" y="4846320"/>
            <a:ext cx="3606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KR3  App store rating at or above 4.6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292498" y="5303520"/>
            <a:ext cx="3606698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292498" y="5303520"/>
            <a:ext cx="2885359" cy="1097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292498" y="5468112"/>
            <a:ext cx="26008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4.5 on both stores  ·  80%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984797" y="546811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984797" y="5468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At risk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8127797" y="1783080"/>
            <a:ext cx="360669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310677" y="1892808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O3 · OBJECTIVE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310677" y="2130552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Keep credit quality inside appetite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8127797" y="2834640"/>
            <a:ext cx="3606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KR1  Card 30+ day delinquency at or below 1.25%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8127797" y="3291840"/>
            <a:ext cx="3606698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127797" y="3291840"/>
            <a:ext cx="1262344" cy="1097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127797" y="3456432"/>
            <a:ext cx="26008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1.42% at quarter end  ·  35%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10820095" y="345643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820095" y="3456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261E"/>
                </a:solidFill>
              </a:rPr>
              <a:t>Off track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8127797" y="3840480"/>
            <a:ext cx="3606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KR2  Collections contact rate at or above 45%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8127797" y="4297680"/>
            <a:ext cx="3606698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127797" y="4297680"/>
            <a:ext cx="1623014" cy="1097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127797" y="4462272"/>
            <a:ext cx="26008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31%; dialer not yet live  ·  45%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0820095" y="446227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0820095" y="44622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261E"/>
                </a:solidFill>
              </a:rPr>
              <a:t>Off track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8127797" y="4846320"/>
            <a:ext cx="3606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KR3  Full-year charge-offs at or below 3.1%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8127797" y="5303520"/>
            <a:ext cx="3606698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127797" y="5303520"/>
            <a:ext cx="2705024" cy="1097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127797" y="5468112"/>
            <a:ext cx="26008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tracking 3.1%, no headroom  ·  75%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0820095" y="546811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10820095" y="5468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At risk</a:t>
            </a:r>
            <a:endParaRPr lang="en-US" sz="900" dirty="0"/>
          </a:p>
        </p:txBody>
      </p:sp>
      <p:sp>
        <p:nvSpPr>
          <p:cNvPr id="68" name="Text 65"/>
          <p:cNvSpPr txBox="1"/>
          <p:nvPr/>
        </p:nvSpPr>
        <p:spPr>
          <a:xfrm>
            <a:off x="457200" y="58978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Q4 reset proposed: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re-baseline O3-KR2 to 40% pending the dialer contract and add a KR on 2024-vintage line management — decision at the 12 October leadership meeting.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igo">
  <a:themeElements>
    <a:clrScheme name="Indigo">
      <a:dk1>
        <a:srgbClr val="111827"/>
      </a:dk1>
      <a:lt1>
        <a:srgbClr val="FFFFFF"/>
      </a:lt1>
      <a:dk2>
        <a:srgbClr val="6B7280"/>
      </a:dk2>
      <a:lt2>
        <a:srgbClr val="EEF2FF"/>
      </a:lt2>
      <a:accent1>
        <a:srgbClr val="4F46E5"/>
      </a:accent1>
      <a:accent2>
        <a:srgbClr val="818CF8"/>
      </a:accent2>
      <a:accent3>
        <a:srgbClr val="C7D2FE"/>
      </a:accent3>
      <a:accent4>
        <a:srgbClr val="A5B4FC"/>
      </a:accent4>
      <a:accent5>
        <a:srgbClr val="3730A3"/>
      </a:accent5>
      <a:accent6>
        <a:srgbClr val="F59E0B"/>
      </a:accent6>
      <a:hlink>
        <a:srgbClr val="4F46E5"/>
      </a:hlink>
      <a:folHlink>
        <a:srgbClr val="6B7280"/>
      </a:folHlink>
    </a:clrScheme>
    <a:fontScheme name="Indig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Consumer Banking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OKR scorecard: two of three objectives on track; card-risk key results are behind and need a Q4 reset</dc:title>
  <dc:subject>One-slide manager report template</dc:subject>
  <dc:creator>Consumer Banking</dc:creator>
  <cp:lastModifiedBy>Consumer Banking</cp:lastModifiedBy>
  <cp:revision>1</cp:revision>
  <dcterms:created xsi:type="dcterms:W3CDTF">2026-10-05T12:57:55Z</dcterms:created>
  <dcterms:modified xsi:type="dcterms:W3CDTF">2026-10-05T12:57:55Z</dcterms:modified>
</cp:coreProperties>
</file>