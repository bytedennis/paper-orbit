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AG status" id="{927d46e7-b889-b9a3-fc58-a291a7a52ad7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status tracker. One row per workstream: status, what happened this period, what happens next, owner. Status always carries a word next to the colour. Overall rating and the escalations that need the reader's decision sit on the right so they are not buried in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_PAG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Action title: the one sentence you want remembered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Period · audience · owner · date</a:t>
            </a:r>
            <a:endParaRPr lang="en-US" sz="12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64465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All figures are illustrative and for template use only  ·  Consumer Banking  ·  Replace with actuals before distribution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Change portfolio status — overall AMBER: core migration and card collections need decisions this month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Status as of 2 October 2026  ·  Weekly portfolio review  ·  Prepared for: Head of Consumer Banking  ·  Owner: PMO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76352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097280"/>
                <a:gridCol w="2148840"/>
                <a:gridCol w="1874520"/>
                <a:gridCol w="914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616161"/>
                          </a:solidFill>
                        </a:rPr>
                        <a:t>WORKSTREAM</a:t>
                      </a:r>
                      <a:endParaRPr lang="en-US" sz="9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616161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616161"/>
                          </a:solidFill>
                        </a:rPr>
                        <a:t>THIS PERIOD</a:t>
                      </a:r>
                      <a:endParaRPr lang="en-US" sz="9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616161"/>
                          </a:solidFill>
                        </a:rPr>
                        <a:t>NEXT PERIOD</a:t>
                      </a:r>
                      <a:endParaRPr lang="en-US" sz="9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616161"/>
                          </a:solidFill>
                        </a:rPr>
                        <a:t>OWNER</a:t>
                      </a:r>
                      <a:endParaRPr lang="en-US" sz="9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</a:rPr>
                        <a:t>Digital onboarding 2.0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CA30C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On track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16161"/>
                          </a:solidFill>
                        </a:rPr>
                        <a:t>Release 3 live in two states; funnel conversion +4 pts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16161"/>
                          </a:solidFill>
                        </a:rPr>
                        <a:t>National rollout 20 Oct; marketing launch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16161"/>
                          </a:solidFill>
                        </a:rPr>
                        <a:t>J. Alvarez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</a:rPr>
                        <a:t>Core deposits migration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B219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At risk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16161"/>
                          </a:solidFill>
                        </a:rPr>
                        <a:t>Dress rehearsal 2 slipped one week on reconciliation defects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16161"/>
                          </a:solidFill>
                        </a:rPr>
                        <a:t>Go / no-go for 14 Nov cutover due 24 Oct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16161"/>
                          </a:solidFill>
                        </a:rPr>
                        <a:t>M. Chen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</a:rPr>
                        <a:t>Card collections uplift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03B3B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Off track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16161"/>
                          </a:solidFill>
                        </a:rPr>
                        <a:t>Dialer vendor contract unsigned; hiring 40% complete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16161"/>
                          </a:solidFill>
                        </a:rPr>
                        <a:t>Decision on interim outsourcing needed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16161"/>
                          </a:solidFill>
                        </a:rPr>
                        <a:t>S. Patel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</a:rPr>
                        <a:t>Branch network optimisation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CA30C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On track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16161"/>
                          </a:solidFill>
                        </a:rPr>
                        <a:t>6 of 14 consolidations done; attrition 1.8% vs 3% tolerance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16161"/>
                          </a:solidFill>
                        </a:rPr>
                        <a:t>Next four closures 1 Nov; staff redeployment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16161"/>
                          </a:solidFill>
                        </a:rPr>
                        <a:t>R. Okafor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</a:rPr>
                        <a:t>Open banking APIs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B219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At risk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16161"/>
                          </a:solidFill>
                        </a:rPr>
                        <a:t>Security review raised 3 high findings; 2 closed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16161"/>
                          </a:solidFill>
                        </a:rPr>
                        <a:t>Close final finding by 10 Oct; certification test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16161"/>
                          </a:solidFill>
                        </a:rPr>
                        <a:t>L. Novak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</a:rPr>
                        <a:t>Complaints handling redesign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CA30C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On track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16161"/>
                          </a:solidFill>
                        </a:rPr>
                        <a:t>Average resolution 6.1 days (target 7)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16161"/>
                          </a:solidFill>
                        </a:rPr>
                        <a:t>Automate acknowledgement letters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16161"/>
                          </a:solidFill>
                        </a:rPr>
                        <a:t>A. Rossi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8366760" y="1783080"/>
            <a:ext cx="3367735" cy="3721608"/>
          </a:xfrm>
          <a:prstGeom prst="roundRect">
            <a:avLst>
              <a:gd name="adj" fmla="val 2172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595360" y="1965960"/>
            <a:ext cx="2910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OVERALL STATUS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8595360" y="2194560"/>
            <a:ext cx="2910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AB219"/>
                </a:solidFill>
              </a:rPr>
              <a:t>● </a:t>
            </a:r>
            <a:pPr algn="l" indent="0" marL="0">
              <a:buNone/>
            </a:pPr>
            <a:r>
              <a:rPr lang="en-US" sz="2400" b="1" dirty="0">
                <a:solidFill>
                  <a:srgbClr val="212121"/>
                </a:solidFill>
              </a:rPr>
              <a:t>AMBER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8595360" y="2697480"/>
            <a:ext cx="2910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 on track  ·  2 at risk  ·  1 off track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3154680"/>
            <a:ext cx="2910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DECISIONS NEEDED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8595360" y="3429000"/>
            <a:ext cx="2910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Approve interim outsourcing of early-stage collections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595360" y="4087368"/>
            <a:ext cx="2910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S. Patel · by 10 Oct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595360" y="4434840"/>
            <a:ext cx="2910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Confirm 14 Nov cutover or defer migration to January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093208"/>
            <a:ext cx="2910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M. Chen · by 24 Oct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576072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A30C"/>
                </a:solidFill>
              </a:rPr>
              <a:t>● </a:t>
            </a:r>
            <a:pPr algn="l"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On track: on plan     </a:t>
            </a:r>
            <a:pPr algn="l" indent="0" marL="0">
              <a:buNone/>
            </a:pPr>
            <a:r>
              <a:rPr lang="en-US" sz="1100" b="1" dirty="0">
                <a:solidFill>
                  <a:srgbClr val="FAB219"/>
                </a:solidFill>
              </a:rPr>
              <a:t>● </a:t>
            </a:r>
            <a:pPr algn="l"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At risk: slippage with mitigation in place     </a:t>
            </a:r>
            <a:pPr algn="l" indent="0" marL="0">
              <a:buNone/>
            </a:pPr>
            <a:r>
              <a:rPr lang="en-US" sz="1100" b="1" dirty="0">
                <a:solidFill>
                  <a:srgbClr val="D03B3B"/>
                </a:solidFill>
              </a:rPr>
              <a:t>● </a:t>
            </a:r>
            <a:pPr algn="l" indent="0" marL="0">
              <a:buNone/>
            </a:pPr>
            <a:r>
              <a:rPr lang="en-US" sz="1100" dirty="0">
                <a:solidFill>
                  <a:srgbClr val="616161"/>
                </a:solidFill>
              </a:rPr>
              <a:t>Off track: off plan, decision needed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rcoal Minimal">
  <a:themeElements>
    <a:clrScheme name="Charcoal Minimal">
      <a:dk1>
        <a:srgbClr val="212121"/>
      </a:dk1>
      <a:lt1>
        <a:srgbClr val="FFFFFF"/>
      </a:lt1>
      <a:dk2>
        <a:srgbClr val="616161"/>
      </a:dk2>
      <a:lt2>
        <a:srgbClr val="F2F2F2"/>
      </a:lt2>
      <a:accent1>
        <a:srgbClr val="36454F"/>
      </a:accent1>
      <a:accent2>
        <a:srgbClr val="7D8B96"/>
      </a:accent2>
      <a:accent3>
        <a:srgbClr val="B0BAC2"/>
      </a:accent3>
      <a:accent4>
        <a:srgbClr val="D9DEE2"/>
      </a:accent4>
      <a:accent5>
        <a:srgbClr val="4A5F6E"/>
      </a:accent5>
      <a:accent6>
        <a:srgbClr val="C0A062"/>
      </a:accent6>
      <a:hlink>
        <a:srgbClr val="36454F"/>
      </a:hlink>
      <a:folHlink>
        <a:srgbClr val="616161"/>
      </a:folHlink>
    </a:clrScheme>
    <a:fontScheme name="Charcoal Minim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Consumer Banking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 portfolio status — overall AMBER: core migration and card collections need decisions this month</dc:title>
  <dc:subject>One-slide manager report template</dc:subject>
  <dc:creator>Consumer Banking</dc:creator>
  <cp:lastModifiedBy>Consumer Banking</cp:lastModifiedBy>
  <cp:revision>1</cp:revision>
  <dcterms:created xsi:type="dcterms:W3CDTF">2026-10-05T12:57:55Z</dcterms:created>
  <dcterms:modified xsi:type="dcterms:W3CDTF">2026-10-05T12:57:55Z</dcterms:modified>
</cp:coreProperties>
</file>