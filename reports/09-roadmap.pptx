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admap" id="{1a7d0d47-1a2e-705c-c340-16f97af9db7d}">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(Gantt). One row per initiative with owner; bars are delivery windows, diamonds are the decisions the reader owns, circles are milestones, and the dashed line is today. Pending work is drawn in the lighter colour so nobody reads it as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_PAG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Action title: the one sentence you want remembered</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Period · audience · owner · date</a:t>
            </a:r>
            <a:endParaRPr lang="en-US" sz="1200" dirty="0"/>
          </a:p>
        </p:txBody>
      </p:sp>
      <p:sp>
        <p:nvSpPr>
          <p:cNvPr id="4" name="Text 0"/>
          <p:cNvSpPr txBox="1"/>
          <p:nvPr/>
        </p:nvSpPr>
        <p:spPr>
          <a:xfrm>
            <a:off x="457200" y="6446520"/>
            <a:ext cx="11277295" cy="256032"/>
          </a:xfrm>
          <a:prstGeom prst="rect">
            <a:avLst/>
          </a:prstGeom>
          <a:noFill/>
          <a:ln/>
        </p:spPr>
        <p:txBody>
          <a:bodyPr wrap="square" lIns="0" tIns="0" rIns="0" bIns="0" rtlCol="0" anchor="ctr"/>
          <a:lstStyle/>
          <a:p>
            <a:pPr algn="l" indent="0" marL="0">
              <a:buNone/>
            </a:pPr>
            <a:r>
              <a:rPr lang="en-US" sz="1000" dirty="0">
                <a:solidFill>
                  <a:schemeClr val="tx2"/>
                </a:solidFill>
              </a:rPr>
              <a:t>All figures are illustrative and for template use only  ·  Consumer Banking  ·  Replace with actuals before distribution</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lIns="0" tIns="0" rIns="0" bIns="0" rtlCol="0" anchor="b"/>
          <a:lstStyle/>
          <a:p>
            <a:pPr algn="l" indent="0" marL="0">
              <a:buNone/>
            </a:pPr>
            <a:r>
              <a:rPr lang="en-US" sz="2800" b="1" dirty="0">
                <a:solidFill>
                  <a:schemeClr val="tx1"/>
                </a:solidFill>
              </a:rPr>
              <a:t>2027 roadmap: five initiatives and three decision gates before March — core migration is the critical path</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lIns="0" tIns="0" rIns="0" bIns="0" rtlCol="0" anchor="t"/>
          <a:lstStyle/>
          <a:p>
            <a:pPr algn="l" indent="0" marL="0">
              <a:buNone/>
            </a:pPr>
            <a:r>
              <a:rPr lang="en-US" sz="1200" dirty="0">
                <a:solidFill>
                  <a:schemeClr val="tx2"/>
                </a:solidFill>
              </a:rPr>
              <a:t>Consumer Banking change roadmap, Q4 2026 – Q3 2027  ·  Quarterly planning review  ·  Owner: PMO  ·  Status as of October 2026</a:t>
            </a:r>
            <a:endParaRPr lang="en-US" sz="1200" dirty="0"/>
          </a:p>
        </p:txBody>
      </p:sp>
      <p:sp>
        <p:nvSpPr>
          <p:cNvPr id="5" name="Shape 2"/>
          <p:cNvSpPr/>
          <p:nvPr/>
        </p:nvSpPr>
        <p:spPr>
          <a:xfrm>
            <a:off x="3401568" y="1783080"/>
            <a:ext cx="2051228" cy="292608"/>
          </a:xfrm>
          <a:prstGeom prst="rect">
            <a:avLst/>
          </a:prstGeom>
          <a:solidFill>
            <a:schemeClr val="bg2"/>
          </a:solidFill>
          <a:ln w="12700">
            <a:solidFill>
              <a:srgbClr val="EEF4F1"/>
            </a:solidFill>
            <a:prstDash val="solid"/>
          </a:ln>
        </p:spPr>
      </p:sp>
      <p:sp>
        <p:nvSpPr>
          <p:cNvPr id="6" name="Text 3"/>
          <p:cNvSpPr txBox="1"/>
          <p:nvPr/>
        </p:nvSpPr>
        <p:spPr>
          <a:xfrm>
            <a:off x="3383280" y="1783080"/>
            <a:ext cx="2087804" cy="292608"/>
          </a:xfrm>
          <a:prstGeom prst="rect">
            <a:avLst/>
          </a:prstGeom>
          <a:noFill/>
          <a:ln/>
        </p:spPr>
        <p:txBody>
          <a:bodyPr wrap="square" lIns="0" tIns="0" rIns="0" bIns="0" rtlCol="0" anchor="ctr"/>
          <a:lstStyle/>
          <a:p>
            <a:pPr algn="ctr" indent="0" marL="0">
              <a:buNone/>
            </a:pPr>
            <a:r>
              <a:rPr lang="en-US" sz="1100" b="1" dirty="0">
                <a:solidFill>
                  <a:schemeClr val="tx1"/>
                </a:solidFill>
              </a:rPr>
              <a:t>Q4 2026</a:t>
            </a:r>
            <a:endParaRPr lang="en-US" sz="1100" dirty="0"/>
          </a:p>
        </p:txBody>
      </p:sp>
      <p:sp>
        <p:nvSpPr>
          <p:cNvPr id="7" name="Shape 4"/>
          <p:cNvSpPr/>
          <p:nvPr/>
        </p:nvSpPr>
        <p:spPr>
          <a:xfrm>
            <a:off x="5489372" y="1783080"/>
            <a:ext cx="2051228" cy="292608"/>
          </a:xfrm>
          <a:prstGeom prst="rect">
            <a:avLst/>
          </a:prstGeom>
          <a:solidFill>
            <a:schemeClr val="bg2"/>
          </a:solidFill>
          <a:ln w="12700">
            <a:solidFill>
              <a:srgbClr val="EEF4F1"/>
            </a:solidFill>
            <a:prstDash val="solid"/>
          </a:ln>
        </p:spPr>
      </p:sp>
      <p:sp>
        <p:nvSpPr>
          <p:cNvPr id="8" name="Text 5"/>
          <p:cNvSpPr txBox="1"/>
          <p:nvPr/>
        </p:nvSpPr>
        <p:spPr>
          <a:xfrm>
            <a:off x="5471084" y="1783080"/>
            <a:ext cx="2087804" cy="292608"/>
          </a:xfrm>
          <a:prstGeom prst="rect">
            <a:avLst/>
          </a:prstGeom>
          <a:noFill/>
          <a:ln/>
        </p:spPr>
        <p:txBody>
          <a:bodyPr wrap="square" lIns="0" tIns="0" rIns="0" bIns="0" rtlCol="0" anchor="ctr"/>
          <a:lstStyle/>
          <a:p>
            <a:pPr algn="ctr" indent="0" marL="0">
              <a:buNone/>
            </a:pPr>
            <a:r>
              <a:rPr lang="en-US" sz="1100" b="1" dirty="0">
                <a:solidFill>
                  <a:schemeClr val="tx1"/>
                </a:solidFill>
              </a:rPr>
              <a:t>Q1 2027</a:t>
            </a:r>
            <a:endParaRPr lang="en-US" sz="1100" dirty="0"/>
          </a:p>
        </p:txBody>
      </p:sp>
      <p:sp>
        <p:nvSpPr>
          <p:cNvPr id="9" name="Shape 6"/>
          <p:cNvSpPr/>
          <p:nvPr/>
        </p:nvSpPr>
        <p:spPr>
          <a:xfrm>
            <a:off x="7577176" y="1783080"/>
            <a:ext cx="2051228" cy="292608"/>
          </a:xfrm>
          <a:prstGeom prst="rect">
            <a:avLst/>
          </a:prstGeom>
          <a:solidFill>
            <a:schemeClr val="bg2"/>
          </a:solidFill>
          <a:ln w="12700">
            <a:solidFill>
              <a:srgbClr val="EEF4F1"/>
            </a:solidFill>
            <a:prstDash val="solid"/>
          </a:ln>
        </p:spPr>
      </p:sp>
      <p:sp>
        <p:nvSpPr>
          <p:cNvPr id="10" name="Text 7"/>
          <p:cNvSpPr txBox="1"/>
          <p:nvPr/>
        </p:nvSpPr>
        <p:spPr>
          <a:xfrm>
            <a:off x="7558888" y="1783080"/>
            <a:ext cx="2087804" cy="292608"/>
          </a:xfrm>
          <a:prstGeom prst="rect">
            <a:avLst/>
          </a:prstGeom>
          <a:noFill/>
          <a:ln/>
        </p:spPr>
        <p:txBody>
          <a:bodyPr wrap="square" lIns="0" tIns="0" rIns="0" bIns="0" rtlCol="0" anchor="ctr"/>
          <a:lstStyle/>
          <a:p>
            <a:pPr algn="ctr" indent="0" marL="0">
              <a:buNone/>
            </a:pPr>
            <a:r>
              <a:rPr lang="en-US" sz="1100" b="1" dirty="0">
                <a:solidFill>
                  <a:schemeClr val="tx1"/>
                </a:solidFill>
              </a:rPr>
              <a:t>Q2 2027</a:t>
            </a:r>
            <a:endParaRPr lang="en-US" sz="1100" dirty="0"/>
          </a:p>
        </p:txBody>
      </p:sp>
      <p:sp>
        <p:nvSpPr>
          <p:cNvPr id="11" name="Shape 8"/>
          <p:cNvSpPr/>
          <p:nvPr/>
        </p:nvSpPr>
        <p:spPr>
          <a:xfrm>
            <a:off x="9664979" y="1783080"/>
            <a:ext cx="2051228" cy="292608"/>
          </a:xfrm>
          <a:prstGeom prst="rect">
            <a:avLst/>
          </a:prstGeom>
          <a:solidFill>
            <a:schemeClr val="bg2"/>
          </a:solidFill>
          <a:ln w="12700">
            <a:solidFill>
              <a:srgbClr val="EEF4F1"/>
            </a:solidFill>
            <a:prstDash val="solid"/>
          </a:ln>
        </p:spPr>
      </p:sp>
      <p:sp>
        <p:nvSpPr>
          <p:cNvPr id="12" name="Text 9"/>
          <p:cNvSpPr txBox="1"/>
          <p:nvPr/>
        </p:nvSpPr>
        <p:spPr>
          <a:xfrm>
            <a:off x="9646691" y="1783080"/>
            <a:ext cx="2087804" cy="292608"/>
          </a:xfrm>
          <a:prstGeom prst="rect">
            <a:avLst/>
          </a:prstGeom>
          <a:noFill/>
          <a:ln/>
        </p:spPr>
        <p:txBody>
          <a:bodyPr wrap="square" lIns="0" tIns="0" rIns="0" bIns="0" rtlCol="0" anchor="ctr"/>
          <a:lstStyle/>
          <a:p>
            <a:pPr algn="ctr" indent="0" marL="0">
              <a:buNone/>
            </a:pPr>
            <a:r>
              <a:rPr lang="en-US" sz="1100" b="1" dirty="0">
                <a:solidFill>
                  <a:schemeClr val="tx1"/>
                </a:solidFill>
              </a:rPr>
              <a:t>Q3 2027</a:t>
            </a:r>
            <a:endParaRPr lang="en-US" sz="1100" dirty="0"/>
          </a:p>
        </p:txBody>
      </p:sp>
      <p:sp>
        <p:nvSpPr>
          <p:cNvPr id="13" name="Text 10"/>
          <p:cNvSpPr txBox="1"/>
          <p:nvPr/>
        </p:nvSpPr>
        <p:spPr>
          <a:xfrm>
            <a:off x="3383280"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Oct</a:t>
            </a:r>
            <a:endParaRPr lang="en-US" sz="900" dirty="0"/>
          </a:p>
        </p:txBody>
      </p:sp>
      <p:sp>
        <p:nvSpPr>
          <p:cNvPr id="14" name="Text 11"/>
          <p:cNvSpPr txBox="1"/>
          <p:nvPr/>
        </p:nvSpPr>
        <p:spPr>
          <a:xfrm>
            <a:off x="4079215"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Nov</a:t>
            </a:r>
            <a:endParaRPr lang="en-US" sz="900" dirty="0"/>
          </a:p>
        </p:txBody>
      </p:sp>
      <p:sp>
        <p:nvSpPr>
          <p:cNvPr id="15" name="Text 12"/>
          <p:cNvSpPr txBox="1"/>
          <p:nvPr/>
        </p:nvSpPr>
        <p:spPr>
          <a:xfrm>
            <a:off x="4775149"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Dec</a:t>
            </a:r>
            <a:endParaRPr lang="en-US" sz="900" dirty="0"/>
          </a:p>
        </p:txBody>
      </p:sp>
      <p:sp>
        <p:nvSpPr>
          <p:cNvPr id="16" name="Text 13"/>
          <p:cNvSpPr txBox="1"/>
          <p:nvPr/>
        </p:nvSpPr>
        <p:spPr>
          <a:xfrm>
            <a:off x="5471084"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Jan</a:t>
            </a:r>
            <a:endParaRPr lang="en-US" sz="900" dirty="0"/>
          </a:p>
        </p:txBody>
      </p:sp>
      <p:sp>
        <p:nvSpPr>
          <p:cNvPr id="17" name="Text 14"/>
          <p:cNvSpPr txBox="1"/>
          <p:nvPr/>
        </p:nvSpPr>
        <p:spPr>
          <a:xfrm>
            <a:off x="6167018"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Feb</a:t>
            </a:r>
            <a:endParaRPr lang="en-US" sz="900" dirty="0"/>
          </a:p>
        </p:txBody>
      </p:sp>
      <p:sp>
        <p:nvSpPr>
          <p:cNvPr id="18" name="Text 15"/>
          <p:cNvSpPr txBox="1"/>
          <p:nvPr/>
        </p:nvSpPr>
        <p:spPr>
          <a:xfrm>
            <a:off x="6862953"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Mar</a:t>
            </a:r>
            <a:endParaRPr lang="en-US" sz="900" dirty="0"/>
          </a:p>
        </p:txBody>
      </p:sp>
      <p:sp>
        <p:nvSpPr>
          <p:cNvPr id="19" name="Text 16"/>
          <p:cNvSpPr txBox="1"/>
          <p:nvPr/>
        </p:nvSpPr>
        <p:spPr>
          <a:xfrm>
            <a:off x="7558888"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Apr</a:t>
            </a:r>
            <a:endParaRPr lang="en-US" sz="900" dirty="0"/>
          </a:p>
        </p:txBody>
      </p:sp>
      <p:sp>
        <p:nvSpPr>
          <p:cNvPr id="20" name="Text 17"/>
          <p:cNvSpPr txBox="1"/>
          <p:nvPr/>
        </p:nvSpPr>
        <p:spPr>
          <a:xfrm>
            <a:off x="8254822"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May</a:t>
            </a:r>
            <a:endParaRPr lang="en-US" sz="900" dirty="0"/>
          </a:p>
        </p:txBody>
      </p:sp>
      <p:sp>
        <p:nvSpPr>
          <p:cNvPr id="21" name="Text 18"/>
          <p:cNvSpPr txBox="1"/>
          <p:nvPr/>
        </p:nvSpPr>
        <p:spPr>
          <a:xfrm>
            <a:off x="8950757"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Jun</a:t>
            </a:r>
            <a:endParaRPr lang="en-US" sz="900" dirty="0"/>
          </a:p>
        </p:txBody>
      </p:sp>
      <p:sp>
        <p:nvSpPr>
          <p:cNvPr id="22" name="Text 19"/>
          <p:cNvSpPr txBox="1"/>
          <p:nvPr/>
        </p:nvSpPr>
        <p:spPr>
          <a:xfrm>
            <a:off x="9646691"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Jul</a:t>
            </a:r>
            <a:endParaRPr lang="en-US" sz="900" dirty="0"/>
          </a:p>
        </p:txBody>
      </p:sp>
      <p:sp>
        <p:nvSpPr>
          <p:cNvPr id="23" name="Text 20"/>
          <p:cNvSpPr txBox="1"/>
          <p:nvPr/>
        </p:nvSpPr>
        <p:spPr>
          <a:xfrm>
            <a:off x="10342626"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Aug</a:t>
            </a:r>
            <a:endParaRPr lang="en-US" sz="900" dirty="0"/>
          </a:p>
        </p:txBody>
      </p:sp>
      <p:sp>
        <p:nvSpPr>
          <p:cNvPr id="24" name="Text 21"/>
          <p:cNvSpPr txBox="1"/>
          <p:nvPr/>
        </p:nvSpPr>
        <p:spPr>
          <a:xfrm>
            <a:off x="11038561" y="2112264"/>
            <a:ext cx="695935" cy="201168"/>
          </a:xfrm>
          <a:prstGeom prst="rect">
            <a:avLst/>
          </a:prstGeom>
          <a:noFill/>
          <a:ln/>
        </p:spPr>
        <p:txBody>
          <a:bodyPr wrap="square" lIns="0" tIns="0" rIns="0" bIns="0" rtlCol="0" anchor="t"/>
          <a:lstStyle/>
          <a:p>
            <a:pPr algn="ctr" indent="0" marL="0">
              <a:buNone/>
            </a:pPr>
            <a:r>
              <a:rPr lang="en-US" sz="900" dirty="0">
                <a:solidFill>
                  <a:schemeClr val="tx2"/>
                </a:solidFill>
              </a:rPr>
              <a:t>Sep</a:t>
            </a:r>
            <a:endParaRPr lang="en-US" sz="900" dirty="0"/>
          </a:p>
        </p:txBody>
      </p:sp>
      <p:sp>
        <p:nvSpPr>
          <p:cNvPr id="25" name="Shape 22"/>
          <p:cNvSpPr/>
          <p:nvPr/>
        </p:nvSpPr>
        <p:spPr>
          <a:xfrm>
            <a:off x="457200" y="3081528"/>
            <a:ext cx="11277295" cy="0"/>
          </a:xfrm>
          <a:prstGeom prst="line">
            <a:avLst/>
          </a:prstGeom>
          <a:noFill/>
          <a:ln w="9525">
            <a:solidFill>
              <a:srgbClr val="E1E0D9"/>
            </a:solidFill>
            <a:prstDash val="solid"/>
          </a:ln>
        </p:spPr>
      </p:sp>
      <p:sp>
        <p:nvSpPr>
          <p:cNvPr id="26" name="Text 23"/>
          <p:cNvSpPr txBox="1"/>
          <p:nvPr/>
        </p:nvSpPr>
        <p:spPr>
          <a:xfrm>
            <a:off x="457200" y="2496312"/>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Core deposits migration</a:t>
            </a:r>
            <a:endParaRPr lang="en-US" sz="1200" dirty="0"/>
          </a:p>
        </p:txBody>
      </p:sp>
      <p:sp>
        <p:nvSpPr>
          <p:cNvPr id="27" name="Text 24"/>
          <p:cNvSpPr txBox="1"/>
          <p:nvPr/>
        </p:nvSpPr>
        <p:spPr>
          <a:xfrm>
            <a:off x="457200" y="2770632"/>
            <a:ext cx="2743200" cy="228600"/>
          </a:xfrm>
          <a:prstGeom prst="rect">
            <a:avLst/>
          </a:prstGeom>
          <a:noFill/>
          <a:ln/>
        </p:spPr>
        <p:txBody>
          <a:bodyPr wrap="square" lIns="0" tIns="0" rIns="0" bIns="0" rtlCol="0" anchor="t"/>
          <a:lstStyle/>
          <a:p>
            <a:pPr algn="l" indent="0" marL="0">
              <a:buNone/>
            </a:pPr>
            <a:r>
              <a:rPr lang="en-US" sz="1000" dirty="0">
                <a:solidFill>
                  <a:schemeClr val="tx2"/>
                </a:solidFill>
              </a:rPr>
              <a:t>M. Chen · critical path</a:t>
            </a:r>
            <a:endParaRPr lang="en-US" sz="1000" dirty="0"/>
          </a:p>
        </p:txBody>
      </p:sp>
      <p:sp>
        <p:nvSpPr>
          <p:cNvPr id="28" name="Shape 25"/>
          <p:cNvSpPr/>
          <p:nvPr/>
        </p:nvSpPr>
        <p:spPr>
          <a:xfrm>
            <a:off x="3410712" y="2606040"/>
            <a:ext cx="2728874" cy="274320"/>
          </a:xfrm>
          <a:prstGeom prst="roundRect">
            <a:avLst>
              <a:gd name="adj" fmla="val 50000"/>
            </a:avLst>
          </a:prstGeom>
          <a:solidFill>
            <a:schemeClr val="accent1"/>
          </a:solidFill>
          <a:ln w="12700">
            <a:solidFill>
              <a:srgbClr val="50808E"/>
            </a:solidFill>
            <a:prstDash val="solid"/>
          </a:ln>
        </p:spPr>
      </p:sp>
      <p:sp>
        <p:nvSpPr>
          <p:cNvPr id="29" name="Shape 26"/>
          <p:cNvSpPr/>
          <p:nvPr/>
        </p:nvSpPr>
        <p:spPr>
          <a:xfrm>
            <a:off x="3791134" y="2615184"/>
            <a:ext cx="256032" cy="256032"/>
          </a:xfrm>
          <a:prstGeom prst="diamond">
            <a:avLst/>
          </a:prstGeom>
          <a:solidFill>
            <a:schemeClr val="accent6"/>
          </a:solidFill>
          <a:ln w="12700">
            <a:solidFill>
              <a:srgbClr val="FFFFFF"/>
            </a:solidFill>
            <a:prstDash val="solid"/>
          </a:ln>
        </p:spPr>
      </p:sp>
      <p:sp>
        <p:nvSpPr>
          <p:cNvPr id="30" name="Text 27"/>
          <p:cNvSpPr txBox="1"/>
          <p:nvPr/>
        </p:nvSpPr>
        <p:spPr>
          <a:xfrm>
            <a:off x="3827710" y="2423160"/>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Go / no-go 24 Oct</a:t>
            </a:r>
            <a:endParaRPr lang="en-US" sz="900" dirty="0"/>
          </a:p>
        </p:txBody>
      </p:sp>
      <p:sp>
        <p:nvSpPr>
          <p:cNvPr id="31" name="Shape 28"/>
          <p:cNvSpPr/>
          <p:nvPr/>
        </p:nvSpPr>
        <p:spPr>
          <a:xfrm>
            <a:off x="4305720" y="2642616"/>
            <a:ext cx="201168" cy="201168"/>
          </a:xfrm>
          <a:prstGeom prst="ellipse">
            <a:avLst/>
          </a:prstGeom>
          <a:solidFill>
            <a:srgbClr val="FFFFFF"/>
          </a:solidFill>
          <a:ln w="19050">
            <a:solidFill>
              <a:srgbClr val="2F5D6B"/>
            </a:solidFill>
            <a:prstDash val="solid"/>
          </a:ln>
        </p:spPr>
      </p:sp>
      <p:sp>
        <p:nvSpPr>
          <p:cNvPr id="32" name="Text 29"/>
          <p:cNvSpPr txBox="1"/>
          <p:nvPr/>
        </p:nvSpPr>
        <p:spPr>
          <a:xfrm>
            <a:off x="4314864" y="2898648"/>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Cutover 14 Nov</a:t>
            </a:r>
            <a:endParaRPr lang="en-US" sz="900" dirty="0"/>
          </a:p>
        </p:txBody>
      </p:sp>
      <p:sp>
        <p:nvSpPr>
          <p:cNvPr id="33" name="Shape 30"/>
          <p:cNvSpPr/>
          <p:nvPr/>
        </p:nvSpPr>
        <p:spPr>
          <a:xfrm>
            <a:off x="457200" y="3758184"/>
            <a:ext cx="11277295" cy="0"/>
          </a:xfrm>
          <a:prstGeom prst="line">
            <a:avLst/>
          </a:prstGeom>
          <a:noFill/>
          <a:ln w="9525">
            <a:solidFill>
              <a:srgbClr val="E1E0D9"/>
            </a:solidFill>
            <a:prstDash val="solid"/>
          </a:ln>
        </p:spPr>
      </p:sp>
      <p:sp>
        <p:nvSpPr>
          <p:cNvPr id="34" name="Text 31"/>
          <p:cNvSpPr txBox="1"/>
          <p:nvPr/>
        </p:nvSpPr>
        <p:spPr>
          <a:xfrm>
            <a:off x="457200" y="3172968"/>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Digital onboarding 2.0 — national rollout</a:t>
            </a:r>
            <a:endParaRPr lang="en-US" sz="1200" dirty="0"/>
          </a:p>
        </p:txBody>
      </p:sp>
      <p:sp>
        <p:nvSpPr>
          <p:cNvPr id="35" name="Text 32"/>
          <p:cNvSpPr txBox="1"/>
          <p:nvPr/>
        </p:nvSpPr>
        <p:spPr>
          <a:xfrm>
            <a:off x="457200" y="3447288"/>
            <a:ext cx="2743200" cy="228600"/>
          </a:xfrm>
          <a:prstGeom prst="rect">
            <a:avLst/>
          </a:prstGeom>
          <a:noFill/>
          <a:ln/>
        </p:spPr>
        <p:txBody>
          <a:bodyPr wrap="square" lIns="0" tIns="0" rIns="0" bIns="0" rtlCol="0" anchor="t"/>
          <a:lstStyle/>
          <a:p>
            <a:pPr algn="l" indent="0" marL="0">
              <a:buNone/>
            </a:pPr>
            <a:r>
              <a:rPr lang="en-US" sz="1000" dirty="0">
                <a:solidFill>
                  <a:schemeClr val="tx2"/>
                </a:solidFill>
              </a:rPr>
              <a:t>J. Alvarez</a:t>
            </a:r>
            <a:endParaRPr lang="en-US" sz="1000" dirty="0"/>
          </a:p>
        </p:txBody>
      </p:sp>
      <p:sp>
        <p:nvSpPr>
          <p:cNvPr id="36" name="Shape 33"/>
          <p:cNvSpPr/>
          <p:nvPr/>
        </p:nvSpPr>
        <p:spPr>
          <a:xfrm>
            <a:off x="3410712" y="3282696"/>
            <a:ext cx="2032940" cy="274320"/>
          </a:xfrm>
          <a:prstGeom prst="roundRect">
            <a:avLst>
              <a:gd name="adj" fmla="val 50000"/>
            </a:avLst>
          </a:prstGeom>
          <a:solidFill>
            <a:schemeClr val="accent1"/>
          </a:solidFill>
          <a:ln w="12700">
            <a:solidFill>
              <a:srgbClr val="50808E"/>
            </a:solidFill>
            <a:prstDash val="solid"/>
          </a:ln>
        </p:spPr>
      </p:sp>
      <p:sp>
        <p:nvSpPr>
          <p:cNvPr id="37" name="Shape 34"/>
          <p:cNvSpPr/>
          <p:nvPr/>
        </p:nvSpPr>
        <p:spPr>
          <a:xfrm>
            <a:off x="3735053" y="3319272"/>
            <a:ext cx="201168" cy="201168"/>
          </a:xfrm>
          <a:prstGeom prst="ellipse">
            <a:avLst/>
          </a:prstGeom>
          <a:solidFill>
            <a:srgbClr val="FFFFFF"/>
          </a:solidFill>
          <a:ln w="19050">
            <a:solidFill>
              <a:srgbClr val="2F5D6B"/>
            </a:solidFill>
            <a:prstDash val="solid"/>
          </a:ln>
        </p:spPr>
      </p:sp>
      <p:sp>
        <p:nvSpPr>
          <p:cNvPr id="38" name="Text 35"/>
          <p:cNvSpPr txBox="1"/>
          <p:nvPr/>
        </p:nvSpPr>
        <p:spPr>
          <a:xfrm>
            <a:off x="3744197" y="3575304"/>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National launch 20 Oct</a:t>
            </a:r>
            <a:endParaRPr lang="en-US" sz="900" dirty="0"/>
          </a:p>
        </p:txBody>
      </p:sp>
      <p:sp>
        <p:nvSpPr>
          <p:cNvPr id="39" name="Shape 36"/>
          <p:cNvSpPr/>
          <p:nvPr/>
        </p:nvSpPr>
        <p:spPr>
          <a:xfrm>
            <a:off x="457200" y="4434840"/>
            <a:ext cx="11277295" cy="0"/>
          </a:xfrm>
          <a:prstGeom prst="line">
            <a:avLst/>
          </a:prstGeom>
          <a:noFill/>
          <a:ln w="9525">
            <a:solidFill>
              <a:srgbClr val="E1E0D9"/>
            </a:solidFill>
            <a:prstDash val="solid"/>
          </a:ln>
        </p:spPr>
      </p:sp>
      <p:sp>
        <p:nvSpPr>
          <p:cNvPr id="40" name="Text 37"/>
          <p:cNvSpPr txBox="1"/>
          <p:nvPr/>
        </p:nvSpPr>
        <p:spPr>
          <a:xfrm>
            <a:off x="457200" y="3849624"/>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Card collections uplift</a:t>
            </a:r>
            <a:endParaRPr lang="en-US" sz="1200" dirty="0"/>
          </a:p>
        </p:txBody>
      </p:sp>
      <p:sp>
        <p:nvSpPr>
          <p:cNvPr id="41" name="Text 38"/>
          <p:cNvSpPr txBox="1"/>
          <p:nvPr/>
        </p:nvSpPr>
        <p:spPr>
          <a:xfrm>
            <a:off x="457200" y="4123944"/>
            <a:ext cx="2743200" cy="228600"/>
          </a:xfrm>
          <a:prstGeom prst="rect">
            <a:avLst/>
          </a:prstGeom>
          <a:noFill/>
          <a:ln/>
        </p:spPr>
        <p:txBody>
          <a:bodyPr wrap="square" lIns="0" tIns="0" rIns="0" bIns="0" rtlCol="0" anchor="t"/>
          <a:lstStyle/>
          <a:p>
            <a:pPr algn="l" indent="0" marL="0">
              <a:buNone/>
            </a:pPr>
            <a:r>
              <a:rPr lang="en-US" sz="1000" dirty="0">
                <a:solidFill>
                  <a:schemeClr val="tx2"/>
                </a:solidFill>
              </a:rPr>
              <a:t>S. Patel</a:t>
            </a:r>
            <a:endParaRPr lang="en-US" sz="1000" dirty="0"/>
          </a:p>
        </p:txBody>
      </p:sp>
      <p:sp>
        <p:nvSpPr>
          <p:cNvPr id="42" name="Shape 39"/>
          <p:cNvSpPr/>
          <p:nvPr/>
        </p:nvSpPr>
        <p:spPr>
          <a:xfrm>
            <a:off x="4106647" y="3959352"/>
            <a:ext cx="4120744" cy="274320"/>
          </a:xfrm>
          <a:prstGeom prst="roundRect">
            <a:avLst>
              <a:gd name="adj" fmla="val 50000"/>
            </a:avLst>
          </a:prstGeom>
          <a:solidFill>
            <a:schemeClr val="accent1"/>
          </a:solidFill>
          <a:ln w="12700">
            <a:solidFill>
              <a:srgbClr val="50808E"/>
            </a:solidFill>
            <a:prstDash val="solid"/>
          </a:ln>
        </p:spPr>
      </p:sp>
      <p:sp>
        <p:nvSpPr>
          <p:cNvPr id="43" name="Shape 40"/>
          <p:cNvSpPr/>
          <p:nvPr/>
        </p:nvSpPr>
        <p:spPr>
          <a:xfrm>
            <a:off x="4159979" y="3968496"/>
            <a:ext cx="256032" cy="256032"/>
          </a:xfrm>
          <a:prstGeom prst="diamond">
            <a:avLst/>
          </a:prstGeom>
          <a:solidFill>
            <a:schemeClr val="accent6"/>
          </a:solidFill>
          <a:ln w="12700">
            <a:solidFill>
              <a:srgbClr val="FFFFFF"/>
            </a:solidFill>
            <a:prstDash val="solid"/>
          </a:ln>
        </p:spPr>
      </p:sp>
      <p:sp>
        <p:nvSpPr>
          <p:cNvPr id="44" name="Text 41"/>
          <p:cNvSpPr txBox="1"/>
          <p:nvPr/>
        </p:nvSpPr>
        <p:spPr>
          <a:xfrm>
            <a:off x="4196555" y="4251960"/>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Outsourcing decision 10 Nov</a:t>
            </a:r>
            <a:endParaRPr lang="en-US" sz="900" dirty="0"/>
          </a:p>
        </p:txBody>
      </p:sp>
      <p:sp>
        <p:nvSpPr>
          <p:cNvPr id="45" name="Shape 42"/>
          <p:cNvSpPr/>
          <p:nvPr/>
        </p:nvSpPr>
        <p:spPr>
          <a:xfrm>
            <a:off x="6414402" y="3995928"/>
            <a:ext cx="201168" cy="201168"/>
          </a:xfrm>
          <a:prstGeom prst="ellipse">
            <a:avLst/>
          </a:prstGeom>
          <a:solidFill>
            <a:srgbClr val="FFFFFF"/>
          </a:solidFill>
          <a:ln w="19050">
            <a:solidFill>
              <a:srgbClr val="2F5D6B"/>
            </a:solidFill>
            <a:prstDash val="solid"/>
          </a:ln>
        </p:spPr>
      </p:sp>
      <p:sp>
        <p:nvSpPr>
          <p:cNvPr id="46" name="Text 43"/>
          <p:cNvSpPr txBox="1"/>
          <p:nvPr/>
        </p:nvSpPr>
        <p:spPr>
          <a:xfrm>
            <a:off x="6423546" y="4251960"/>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Dialer live Feb</a:t>
            </a:r>
            <a:endParaRPr lang="en-US" sz="900" dirty="0"/>
          </a:p>
        </p:txBody>
      </p:sp>
      <p:sp>
        <p:nvSpPr>
          <p:cNvPr id="47" name="Shape 44"/>
          <p:cNvSpPr/>
          <p:nvPr/>
        </p:nvSpPr>
        <p:spPr>
          <a:xfrm>
            <a:off x="457200" y="5111496"/>
            <a:ext cx="11277295" cy="0"/>
          </a:xfrm>
          <a:prstGeom prst="line">
            <a:avLst/>
          </a:prstGeom>
          <a:noFill/>
          <a:ln w="9525">
            <a:solidFill>
              <a:srgbClr val="E1E0D9"/>
            </a:solidFill>
            <a:prstDash val="solid"/>
          </a:ln>
        </p:spPr>
      </p:sp>
      <p:sp>
        <p:nvSpPr>
          <p:cNvPr id="48" name="Text 45"/>
          <p:cNvSpPr txBox="1"/>
          <p:nvPr/>
        </p:nvSpPr>
        <p:spPr>
          <a:xfrm>
            <a:off x="457200" y="4526280"/>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Branch network phase 2</a:t>
            </a:r>
            <a:endParaRPr lang="en-US" sz="1200" dirty="0"/>
          </a:p>
        </p:txBody>
      </p:sp>
      <p:sp>
        <p:nvSpPr>
          <p:cNvPr id="49" name="Text 46"/>
          <p:cNvSpPr txBox="1"/>
          <p:nvPr/>
        </p:nvSpPr>
        <p:spPr>
          <a:xfrm>
            <a:off x="457200" y="4800600"/>
            <a:ext cx="2743200" cy="228600"/>
          </a:xfrm>
          <a:prstGeom prst="rect">
            <a:avLst/>
          </a:prstGeom>
          <a:noFill/>
          <a:ln/>
        </p:spPr>
        <p:txBody>
          <a:bodyPr wrap="square" lIns="0" tIns="0" rIns="0" bIns="0" rtlCol="0" anchor="t"/>
          <a:lstStyle/>
          <a:p>
            <a:pPr algn="l" indent="0" marL="0">
              <a:buNone/>
            </a:pPr>
            <a:r>
              <a:rPr lang="en-US" sz="1000" dirty="0">
                <a:solidFill>
                  <a:schemeClr val="tx2"/>
                </a:solidFill>
              </a:rPr>
              <a:t>R. Okafor · pending approval</a:t>
            </a:r>
            <a:endParaRPr lang="en-US" sz="1000" dirty="0"/>
          </a:p>
        </p:txBody>
      </p:sp>
      <p:sp>
        <p:nvSpPr>
          <p:cNvPr id="50" name="Shape 47"/>
          <p:cNvSpPr/>
          <p:nvPr/>
        </p:nvSpPr>
        <p:spPr>
          <a:xfrm>
            <a:off x="5498516" y="4636008"/>
            <a:ext cx="4120744" cy="274320"/>
          </a:xfrm>
          <a:prstGeom prst="roundRect">
            <a:avLst>
              <a:gd name="adj" fmla="val 50000"/>
            </a:avLst>
          </a:prstGeom>
          <a:solidFill>
            <a:schemeClr val="accent2"/>
          </a:solidFill>
          <a:ln w="12700">
            <a:solidFill>
              <a:srgbClr val="84B59F"/>
            </a:solidFill>
            <a:prstDash val="solid"/>
          </a:ln>
        </p:spPr>
      </p:sp>
      <p:sp>
        <p:nvSpPr>
          <p:cNvPr id="51" name="Shape 48"/>
          <p:cNvSpPr/>
          <p:nvPr/>
        </p:nvSpPr>
        <p:spPr>
          <a:xfrm>
            <a:off x="5621442" y="4645152"/>
            <a:ext cx="256032" cy="256032"/>
          </a:xfrm>
          <a:prstGeom prst="diamond">
            <a:avLst/>
          </a:prstGeom>
          <a:solidFill>
            <a:schemeClr val="accent6"/>
          </a:solidFill>
          <a:ln w="12700">
            <a:solidFill>
              <a:srgbClr val="FFFFFF"/>
            </a:solidFill>
            <a:prstDash val="solid"/>
          </a:ln>
        </p:spPr>
      </p:sp>
      <p:sp>
        <p:nvSpPr>
          <p:cNvPr id="52" name="Text 49"/>
          <p:cNvSpPr txBox="1"/>
          <p:nvPr/>
        </p:nvSpPr>
        <p:spPr>
          <a:xfrm>
            <a:off x="5658018" y="4928616"/>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Approval gate Jan</a:t>
            </a:r>
            <a:endParaRPr lang="en-US" sz="900" dirty="0"/>
          </a:p>
        </p:txBody>
      </p:sp>
      <p:sp>
        <p:nvSpPr>
          <p:cNvPr id="53" name="Shape 50"/>
          <p:cNvSpPr/>
          <p:nvPr/>
        </p:nvSpPr>
        <p:spPr>
          <a:xfrm>
            <a:off x="457200" y="5788152"/>
            <a:ext cx="11277295" cy="0"/>
          </a:xfrm>
          <a:prstGeom prst="line">
            <a:avLst/>
          </a:prstGeom>
          <a:noFill/>
          <a:ln w="9525">
            <a:solidFill>
              <a:srgbClr val="E1E0D9"/>
            </a:solidFill>
            <a:prstDash val="solid"/>
          </a:ln>
        </p:spPr>
      </p:sp>
      <p:sp>
        <p:nvSpPr>
          <p:cNvPr id="54" name="Text 51"/>
          <p:cNvSpPr txBox="1"/>
          <p:nvPr/>
        </p:nvSpPr>
        <p:spPr>
          <a:xfrm>
            <a:off x="457200" y="5202936"/>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Open banking APIs</a:t>
            </a:r>
            <a:endParaRPr lang="en-US" sz="1200" dirty="0"/>
          </a:p>
        </p:txBody>
      </p:sp>
      <p:sp>
        <p:nvSpPr>
          <p:cNvPr id="55" name="Text 52"/>
          <p:cNvSpPr txBox="1"/>
          <p:nvPr/>
        </p:nvSpPr>
        <p:spPr>
          <a:xfrm>
            <a:off x="457200" y="5477256"/>
            <a:ext cx="2743200" cy="228600"/>
          </a:xfrm>
          <a:prstGeom prst="rect">
            <a:avLst/>
          </a:prstGeom>
          <a:noFill/>
          <a:ln/>
        </p:spPr>
        <p:txBody>
          <a:bodyPr wrap="square" lIns="0" tIns="0" rIns="0" bIns="0" rtlCol="0" anchor="t"/>
          <a:lstStyle/>
          <a:p>
            <a:pPr algn="l" indent="0" marL="0">
              <a:buNone/>
            </a:pPr>
            <a:r>
              <a:rPr lang="en-US" sz="1000" dirty="0">
                <a:solidFill>
                  <a:schemeClr val="tx2"/>
                </a:solidFill>
              </a:rPr>
              <a:t>L. Novak</a:t>
            </a:r>
            <a:endParaRPr lang="en-US" sz="1000" dirty="0"/>
          </a:p>
        </p:txBody>
      </p:sp>
      <p:sp>
        <p:nvSpPr>
          <p:cNvPr id="56" name="Shape 53"/>
          <p:cNvSpPr/>
          <p:nvPr/>
        </p:nvSpPr>
        <p:spPr>
          <a:xfrm>
            <a:off x="3410712" y="5312664"/>
            <a:ext cx="4120744" cy="274320"/>
          </a:xfrm>
          <a:prstGeom prst="roundRect">
            <a:avLst>
              <a:gd name="adj" fmla="val 50000"/>
            </a:avLst>
          </a:prstGeom>
          <a:solidFill>
            <a:schemeClr val="accent1"/>
          </a:solidFill>
          <a:ln w="12700">
            <a:solidFill>
              <a:srgbClr val="50808E"/>
            </a:solidFill>
            <a:prstDash val="solid"/>
          </a:ln>
        </p:spPr>
      </p:sp>
      <p:sp>
        <p:nvSpPr>
          <p:cNvPr id="57" name="Shape 54"/>
          <p:cNvSpPr/>
          <p:nvPr/>
        </p:nvSpPr>
        <p:spPr>
          <a:xfrm>
            <a:off x="7586320" y="5312664"/>
            <a:ext cx="4120744" cy="274320"/>
          </a:xfrm>
          <a:prstGeom prst="roundRect">
            <a:avLst>
              <a:gd name="adj" fmla="val 50000"/>
            </a:avLst>
          </a:prstGeom>
          <a:solidFill>
            <a:schemeClr val="accent2"/>
          </a:solidFill>
          <a:ln w="12700">
            <a:solidFill>
              <a:srgbClr val="84B59F"/>
            </a:solidFill>
            <a:prstDash val="solid"/>
          </a:ln>
        </p:spPr>
      </p:sp>
      <p:sp>
        <p:nvSpPr>
          <p:cNvPr id="58" name="Shape 55"/>
          <p:cNvSpPr/>
          <p:nvPr/>
        </p:nvSpPr>
        <p:spPr>
          <a:xfrm>
            <a:off x="5092126" y="5349240"/>
            <a:ext cx="201168" cy="201168"/>
          </a:xfrm>
          <a:prstGeom prst="ellipse">
            <a:avLst/>
          </a:prstGeom>
          <a:solidFill>
            <a:srgbClr val="FFFFFF"/>
          </a:solidFill>
          <a:ln w="19050">
            <a:solidFill>
              <a:srgbClr val="2F5D6B"/>
            </a:solidFill>
            <a:prstDash val="solid"/>
          </a:ln>
        </p:spPr>
      </p:sp>
      <p:sp>
        <p:nvSpPr>
          <p:cNvPr id="59" name="Text 56"/>
          <p:cNvSpPr txBox="1"/>
          <p:nvPr/>
        </p:nvSpPr>
        <p:spPr>
          <a:xfrm>
            <a:off x="5101270" y="5605272"/>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Certification Dec</a:t>
            </a:r>
            <a:endParaRPr lang="en-US" sz="900" dirty="0"/>
          </a:p>
        </p:txBody>
      </p:sp>
      <p:sp>
        <p:nvSpPr>
          <p:cNvPr id="60" name="Shape 57"/>
          <p:cNvSpPr/>
          <p:nvPr/>
        </p:nvSpPr>
        <p:spPr>
          <a:xfrm>
            <a:off x="7667084" y="5349240"/>
            <a:ext cx="201168" cy="201168"/>
          </a:xfrm>
          <a:prstGeom prst="ellipse">
            <a:avLst/>
          </a:prstGeom>
          <a:solidFill>
            <a:srgbClr val="FFFFFF"/>
          </a:solidFill>
          <a:ln w="19050">
            <a:solidFill>
              <a:srgbClr val="2F5D6B"/>
            </a:solidFill>
            <a:prstDash val="solid"/>
          </a:ln>
        </p:spPr>
      </p:sp>
      <p:sp>
        <p:nvSpPr>
          <p:cNvPr id="61" name="Text 58"/>
          <p:cNvSpPr txBox="1"/>
          <p:nvPr/>
        </p:nvSpPr>
        <p:spPr>
          <a:xfrm>
            <a:off x="7676228" y="5605272"/>
            <a:ext cx="1828800" cy="182880"/>
          </a:xfrm>
          <a:prstGeom prst="rect">
            <a:avLst/>
          </a:prstGeom>
          <a:noFill/>
          <a:ln/>
        </p:spPr>
        <p:txBody>
          <a:bodyPr wrap="square" lIns="0" tIns="0" rIns="0" bIns="0" rtlCol="0" anchor="t"/>
          <a:lstStyle/>
          <a:p>
            <a:pPr algn="l" indent="0" marL="0">
              <a:buNone/>
            </a:pPr>
            <a:r>
              <a:rPr lang="en-US" sz="900" dirty="0">
                <a:solidFill>
                  <a:schemeClr val="tx1"/>
                </a:solidFill>
              </a:rPr>
              <a:t>Premium APIs (tentative)</a:t>
            </a:r>
            <a:endParaRPr lang="en-US" sz="900" dirty="0"/>
          </a:p>
        </p:txBody>
      </p:sp>
      <p:sp>
        <p:nvSpPr>
          <p:cNvPr id="62" name="Shape 59"/>
          <p:cNvSpPr/>
          <p:nvPr/>
        </p:nvSpPr>
        <p:spPr>
          <a:xfrm>
            <a:off x="5471084" y="2404872"/>
            <a:ext cx="0" cy="3383280"/>
          </a:xfrm>
          <a:prstGeom prst="line">
            <a:avLst/>
          </a:prstGeom>
          <a:noFill/>
          <a:ln w="9525">
            <a:solidFill>
              <a:srgbClr val="E1E0D9"/>
            </a:solidFill>
            <a:prstDash val="solid"/>
          </a:ln>
        </p:spPr>
      </p:sp>
      <p:sp>
        <p:nvSpPr>
          <p:cNvPr id="63" name="Shape 60"/>
          <p:cNvSpPr/>
          <p:nvPr/>
        </p:nvSpPr>
        <p:spPr>
          <a:xfrm>
            <a:off x="7558888" y="2404872"/>
            <a:ext cx="0" cy="3383280"/>
          </a:xfrm>
          <a:prstGeom prst="line">
            <a:avLst/>
          </a:prstGeom>
          <a:noFill/>
          <a:ln w="9525">
            <a:solidFill>
              <a:srgbClr val="E1E0D9"/>
            </a:solidFill>
            <a:prstDash val="solid"/>
          </a:ln>
        </p:spPr>
      </p:sp>
      <p:sp>
        <p:nvSpPr>
          <p:cNvPr id="64" name="Shape 61"/>
          <p:cNvSpPr/>
          <p:nvPr/>
        </p:nvSpPr>
        <p:spPr>
          <a:xfrm>
            <a:off x="9646691" y="2404872"/>
            <a:ext cx="0" cy="3383280"/>
          </a:xfrm>
          <a:prstGeom prst="line">
            <a:avLst/>
          </a:prstGeom>
          <a:noFill/>
          <a:ln w="9525">
            <a:solidFill>
              <a:srgbClr val="E1E0D9"/>
            </a:solidFill>
            <a:prstDash val="solid"/>
          </a:ln>
        </p:spPr>
      </p:sp>
      <p:sp>
        <p:nvSpPr>
          <p:cNvPr id="65" name="Shape 62"/>
          <p:cNvSpPr/>
          <p:nvPr/>
        </p:nvSpPr>
        <p:spPr>
          <a:xfrm>
            <a:off x="3473078" y="2331720"/>
            <a:ext cx="0" cy="3456432"/>
          </a:xfrm>
          <a:prstGeom prst="line">
            <a:avLst/>
          </a:prstGeom>
          <a:noFill/>
          <a:ln w="15875">
            <a:solidFill>
              <a:srgbClr val="D9A05B"/>
            </a:solidFill>
            <a:prstDash val="dash"/>
          </a:ln>
        </p:spPr>
      </p:sp>
      <p:sp>
        <p:nvSpPr>
          <p:cNvPr id="66" name="Text 63"/>
          <p:cNvSpPr txBox="1"/>
          <p:nvPr/>
        </p:nvSpPr>
        <p:spPr>
          <a:xfrm>
            <a:off x="3518798" y="5806440"/>
            <a:ext cx="731520" cy="182880"/>
          </a:xfrm>
          <a:prstGeom prst="rect">
            <a:avLst/>
          </a:prstGeom>
          <a:noFill/>
          <a:ln/>
        </p:spPr>
        <p:txBody>
          <a:bodyPr wrap="square" lIns="0" tIns="0" rIns="0" bIns="0" rtlCol="0" anchor="t"/>
          <a:lstStyle/>
          <a:p>
            <a:pPr algn="l" indent="0" marL="0">
              <a:buNone/>
            </a:pPr>
            <a:r>
              <a:rPr lang="en-US" sz="900" b="1" dirty="0">
                <a:solidFill>
                  <a:schemeClr val="accent6"/>
                </a:solidFill>
              </a:rPr>
              <a:t>Today</a:t>
            </a:r>
            <a:endParaRPr lang="en-US" sz="900" dirty="0"/>
          </a:p>
        </p:txBody>
      </p:sp>
      <p:sp>
        <p:nvSpPr>
          <p:cNvPr id="67" name="Shape 64"/>
          <p:cNvSpPr/>
          <p:nvPr/>
        </p:nvSpPr>
        <p:spPr>
          <a:xfrm>
            <a:off x="457200" y="6108192"/>
            <a:ext cx="411480" cy="146304"/>
          </a:xfrm>
          <a:prstGeom prst="roundRect">
            <a:avLst>
              <a:gd name="adj" fmla="val 50000"/>
            </a:avLst>
          </a:prstGeom>
          <a:solidFill>
            <a:srgbClr val="50808E"/>
          </a:solidFill>
          <a:ln w="12700">
            <a:solidFill>
              <a:srgbClr val="50808E"/>
            </a:solidFill>
            <a:prstDash val="solid"/>
          </a:ln>
        </p:spPr>
      </p:sp>
      <p:sp>
        <p:nvSpPr>
          <p:cNvPr id="68" name="Text 65"/>
          <p:cNvSpPr txBox="1"/>
          <p:nvPr/>
        </p:nvSpPr>
        <p:spPr>
          <a:xfrm>
            <a:off x="960120" y="6062472"/>
            <a:ext cx="1554480" cy="237744"/>
          </a:xfrm>
          <a:prstGeom prst="rect">
            <a:avLst/>
          </a:prstGeom>
          <a:noFill/>
          <a:ln/>
        </p:spPr>
        <p:txBody>
          <a:bodyPr wrap="square" lIns="0" tIns="0" rIns="0" bIns="0" rtlCol="0" anchor="ctr"/>
          <a:lstStyle/>
          <a:p>
            <a:pPr algn="l" indent="0" marL="0">
              <a:buNone/>
            </a:pPr>
            <a:r>
              <a:rPr lang="en-US" sz="1000" dirty="0">
                <a:solidFill>
                  <a:schemeClr val="tx2"/>
                </a:solidFill>
              </a:rPr>
              <a:t>Committed delivery</a:t>
            </a:r>
            <a:endParaRPr lang="en-US" sz="1000" dirty="0"/>
          </a:p>
        </p:txBody>
      </p:sp>
      <p:sp>
        <p:nvSpPr>
          <p:cNvPr id="69" name="Shape 66"/>
          <p:cNvSpPr/>
          <p:nvPr/>
        </p:nvSpPr>
        <p:spPr>
          <a:xfrm>
            <a:off x="2377440" y="6108192"/>
            <a:ext cx="411480" cy="146304"/>
          </a:xfrm>
          <a:prstGeom prst="roundRect">
            <a:avLst>
              <a:gd name="adj" fmla="val 50000"/>
            </a:avLst>
          </a:prstGeom>
          <a:solidFill>
            <a:srgbClr val="84B59F"/>
          </a:solidFill>
          <a:ln w="12700">
            <a:solidFill>
              <a:srgbClr val="84B59F"/>
            </a:solidFill>
            <a:prstDash val="solid"/>
          </a:ln>
        </p:spPr>
      </p:sp>
      <p:sp>
        <p:nvSpPr>
          <p:cNvPr id="70" name="Text 67"/>
          <p:cNvSpPr txBox="1"/>
          <p:nvPr/>
        </p:nvSpPr>
        <p:spPr>
          <a:xfrm>
            <a:off x="2880360" y="6062472"/>
            <a:ext cx="1554480" cy="237744"/>
          </a:xfrm>
          <a:prstGeom prst="rect">
            <a:avLst/>
          </a:prstGeom>
          <a:noFill/>
          <a:ln/>
        </p:spPr>
        <p:txBody>
          <a:bodyPr wrap="square" lIns="0" tIns="0" rIns="0" bIns="0" rtlCol="0" anchor="ctr"/>
          <a:lstStyle/>
          <a:p>
            <a:pPr algn="l" indent="0" marL="0">
              <a:buNone/>
            </a:pPr>
            <a:r>
              <a:rPr lang="en-US" sz="1000" dirty="0">
                <a:solidFill>
                  <a:schemeClr val="tx2"/>
                </a:solidFill>
              </a:rPr>
              <a:t>Pending approval</a:t>
            </a:r>
            <a:endParaRPr lang="en-US" sz="1000" dirty="0"/>
          </a:p>
        </p:txBody>
      </p:sp>
      <p:sp>
        <p:nvSpPr>
          <p:cNvPr id="71" name="Shape 68"/>
          <p:cNvSpPr/>
          <p:nvPr/>
        </p:nvSpPr>
        <p:spPr>
          <a:xfrm>
            <a:off x="4389120" y="6062472"/>
            <a:ext cx="237744" cy="237744"/>
          </a:xfrm>
          <a:prstGeom prst="diamond">
            <a:avLst/>
          </a:prstGeom>
          <a:solidFill>
            <a:srgbClr val="D9A05B"/>
          </a:solidFill>
          <a:ln w="12700">
            <a:solidFill>
              <a:srgbClr val="D9A05B"/>
            </a:solidFill>
            <a:prstDash val="solid"/>
          </a:ln>
        </p:spPr>
      </p:sp>
      <p:sp>
        <p:nvSpPr>
          <p:cNvPr id="72" name="Text 69"/>
          <p:cNvSpPr txBox="1"/>
          <p:nvPr/>
        </p:nvSpPr>
        <p:spPr>
          <a:xfrm>
            <a:off x="4800600" y="6062472"/>
            <a:ext cx="1554480" cy="237744"/>
          </a:xfrm>
          <a:prstGeom prst="rect">
            <a:avLst/>
          </a:prstGeom>
          <a:noFill/>
          <a:ln/>
        </p:spPr>
        <p:txBody>
          <a:bodyPr wrap="square" lIns="0" tIns="0" rIns="0" bIns="0" rtlCol="0" anchor="ctr"/>
          <a:lstStyle/>
          <a:p>
            <a:pPr algn="l" indent="0" marL="0">
              <a:buNone/>
            </a:pPr>
            <a:r>
              <a:rPr lang="en-US" sz="1000" dirty="0">
                <a:solidFill>
                  <a:schemeClr val="tx2"/>
                </a:solidFill>
              </a:rPr>
              <a:t>Decision gate</a:t>
            </a:r>
            <a:endParaRPr lang="en-US" sz="1000" dirty="0"/>
          </a:p>
        </p:txBody>
      </p:sp>
      <p:sp>
        <p:nvSpPr>
          <p:cNvPr id="73" name="Shape 70"/>
          <p:cNvSpPr/>
          <p:nvPr/>
        </p:nvSpPr>
        <p:spPr>
          <a:xfrm>
            <a:off x="6327648" y="6080760"/>
            <a:ext cx="201168" cy="201168"/>
          </a:xfrm>
          <a:prstGeom prst="ellipse">
            <a:avLst/>
          </a:prstGeom>
          <a:solidFill>
            <a:srgbClr val="FFFFFF"/>
          </a:solidFill>
          <a:ln w="19050">
            <a:solidFill>
              <a:srgbClr val="2F5D6B"/>
            </a:solidFill>
            <a:prstDash val="solid"/>
          </a:ln>
        </p:spPr>
      </p:sp>
      <p:sp>
        <p:nvSpPr>
          <p:cNvPr id="74" name="Text 71"/>
          <p:cNvSpPr txBox="1"/>
          <p:nvPr/>
        </p:nvSpPr>
        <p:spPr>
          <a:xfrm>
            <a:off x="6720840" y="6062472"/>
            <a:ext cx="1554480" cy="237744"/>
          </a:xfrm>
          <a:prstGeom prst="rect">
            <a:avLst/>
          </a:prstGeom>
          <a:noFill/>
          <a:ln/>
        </p:spPr>
        <p:txBody>
          <a:bodyPr wrap="square" lIns="0" tIns="0" rIns="0" bIns="0" rtlCol="0" anchor="ctr"/>
          <a:lstStyle/>
          <a:p>
            <a:pPr algn="l" indent="0" marL="0">
              <a:buNone/>
            </a:pPr>
            <a:r>
              <a:rPr lang="en-US" sz="1000" dirty="0">
                <a:solidFill>
                  <a:schemeClr val="tx2"/>
                </a:solidFill>
              </a:rPr>
              <a:t>Milestone</a:t>
            </a:r>
            <a:endParaRPr lang="en-US" sz="1000" dirty="0"/>
          </a:p>
        </p:txBody>
      </p:sp>
    </p:spTree>
  </p:cSld>
  <p:clrMapOvr>
    <a:masterClrMapping/>
  </p:clrMapOvr>
</p:sld>
</file>

<file path=ppt/theme/theme1.xml><?xml version="1.0" encoding="utf-8"?>
<a:theme xmlns:a="http://schemas.openxmlformats.org/drawingml/2006/main" name="Sage Calm">
  <a:themeElements>
    <a:clrScheme name="Sage Calm">
      <a:dk1>
        <a:srgbClr val="1F2A2E"/>
      </a:dk1>
      <a:lt1>
        <a:srgbClr val="FFFFFF"/>
      </a:lt1>
      <a:dk2>
        <a:srgbClr val="5E6E73"/>
      </a:dk2>
      <a:lt2>
        <a:srgbClr val="EEF4F1"/>
      </a:lt2>
      <a:accent1>
        <a:srgbClr val="50808E"/>
      </a:accent1>
      <a:accent2>
        <a:srgbClr val="84B59F"/>
      </a:accent2>
      <a:accent3>
        <a:srgbClr val="69A297"/>
      </a:accent3>
      <a:accent4>
        <a:srgbClr val="C5D9CF"/>
      </a:accent4>
      <a:accent5>
        <a:srgbClr val="2F5D6B"/>
      </a:accent5>
      <a:accent6>
        <a:srgbClr val="D9A05B"/>
      </a:accent6>
      <a:hlink>
        <a:srgbClr val="50808E"/>
      </a:hlink>
      <a:folHlink>
        <a:srgbClr val="5E6E73"/>
      </a:folHlink>
    </a:clrScheme>
    <a:fontScheme name="Sage Cal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Consumer Banking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2027 roadmap: five initiatives and three decision gates before March — core migration is the critical path</dc:title>
  <dc:subject>One-slide manager report template</dc:subject>
  <dc:creator>Consumer Banking</dc:creator>
  <cp:lastModifiedBy>Consumer Banking</cp:lastModifiedBy>
  <cp:revision>1</cp:revision>
  <dcterms:created xsi:type="dcterms:W3CDTF">2026-10-05T12:57:55Z</dcterms:created>
  <dcterms:modified xsi:type="dcterms:W3CDTF">2026-10-05T12:57:55Z</dcterms:modified>
</cp:coreProperties>
</file>