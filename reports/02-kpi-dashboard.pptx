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PI dashboard" id="{e6652bd1-371c-7664-36b1-1c189ea6348c}">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100" b="0" i="0" u="none" strike="noStrike">
                <a:solidFill>
                  <a:srgbClr val="102A2B"/>
                </a:solidFill>
                <a:latin typeface="+mn-lt"/>
              </a:defRPr>
            </a:pPr>
            <a:r>
              <a:rPr sz="1100" b="0" i="0" u="none" strike="noStrike">
                <a:solidFill>
                  <a:srgbClr val="102A2B"/>
                </a:solidFill>
                <a:latin typeface="+mn-lt"/>
              </a:rPr>
              <a:t>Total deposits, $bn — Sep: 48.2 (+4.1% YoY)</a:t>
            </a:r>
          </a:p>
        </c:rich>
      </c:tx>
      <c:layout/>
      <c:overlay val="0"/>
    </c:title>
    <c:autoTitleDeleted val="0"/>
    <c:plotArea>
      <c:layout/>
      <c:lineChart>
        <c:varyColors val="0"/>
        <c:ser>
          <c:idx val="0"/>
          <c:order val="0"/>
          <c:tx>
            <c:strRef>
              <c:f>Sheet1!$B$1</c:f>
              <c:strCache>
                <c:ptCount val="1"/>
                <c:pt idx="0">
                  <c:v>Total deposits</c:v>
                </c:pt>
              </c:strCache>
            </c:strRef>
          </c:tx>
          <c:spPr>
            <a:solidFill>
              <a:srgbClr val="028090"/>
            </a:solidFill>
            <a:ln w="25400" cap="flat">
              <a:solidFill>
                <a:srgbClr val="028090"/>
              </a:solidFill>
              <a:prstDash val="solid"/>
              <a:round/>
            </a:ln>
            <a:effectLst/>
          </c:spPr>
          <c:invertIfNegative val="0"/>
          <c:dLbls>
            <c:numFmt formatCode="#,##0" sourceLinked="0"/>
            <c:txPr>
              <a:bodyPr/>
              <a:lstStyle/>
              <a:p>
                <a:pPr>
                  <a:defRPr b="0" i="0" strike="noStrike" sz="1000" u="none">
                    <a:solidFill>
                      <a:srgbClr val="5A7273"/>
                    </a:solidFill>
                    <a:latin typeface="+mn-lt"/>
                  </a:defRPr>
                </a:pPr>
              </a:p>
            </c:txPr>
            <c:showLegendKey val="0"/>
            <c:showVal val="0"/>
            <c:showCatName val="0"/>
            <c:showSerName val="0"/>
            <c:showPercent val="0"/>
            <c:showBubbleSize val="0"/>
            <c:showLeaderLines val="0"/>
          </c:dLbls>
          <c:marker>
            <c:symbol val="none"/>
            <c:size val="6"/>
            <c:spPr>
              <a:solidFill>
                <a:srgbClr val="028090"/>
              </a:solidFill>
              <a:ln w="9525" cap="flat">
                <a:solidFill>
                  <a:srgbClr val="028090"/>
                </a:solidFill>
                <a:prstDash val="solid"/>
                <a:round/>
              </a:ln>
              <a:effectLst/>
            </c:spPr>
          </c:marker>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Sheet1!$B$2:$B$13</c:f>
              <c:numCache>
                <c:formatCode>General</c:formatCode>
                <c:ptCount val="12"/>
                <c:pt idx="0">
                  <c:v>46.3</c:v>
                </c:pt>
                <c:pt idx="1">
                  <c:v>46.5</c:v>
                </c:pt>
                <c:pt idx="2">
                  <c:v>46.9</c:v>
                </c:pt>
                <c:pt idx="3">
                  <c:v>47</c:v>
                </c:pt>
                <c:pt idx="4">
                  <c:v>47.2</c:v>
                </c:pt>
                <c:pt idx="5">
                  <c:v>47.1</c:v>
                </c:pt>
                <c:pt idx="6">
                  <c:v>47.4</c:v>
                </c:pt>
                <c:pt idx="7">
                  <c:v>47.6</c:v>
                </c:pt>
                <c:pt idx="8">
                  <c:v>47.5</c:v>
                </c:pt>
                <c:pt idx="9">
                  <c:v>47.8</c:v>
                </c:pt>
                <c:pt idx="10">
                  <c:v>47.7</c:v>
                </c:pt>
                <c:pt idx="11">
                  <c:v>48.2</c:v>
                </c:pt>
              </c:numCache>
            </c:numRef>
          </c:val>
          <c:smooth val="0"/>
        </c:ser>
        <c:dLbls>
          <c:numFmt formatCode="#,##0" sourceLinked="0"/>
          <c:txPr>
            <a:bodyPr/>
            <a:lstStyle/>
            <a:p>
              <a:pPr>
                <a:defRPr b="0" i="0" strike="noStrike" sz="1000" u="none">
                  <a:solidFill>
                    <a:srgbClr val="5A727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A7273"/>
                </a:solidFill>
                <a:latin typeface="+mn-lt"/>
              </a:defRPr>
            </a:pPr>
            <a:endParaRPr lang="en-US"/>
          </a:p>
        </c:txPr>
        <c:crossAx val="2094734552"/>
        <c:crosses val="autoZero"/>
        <c:auto val="1"/>
        <c:lblAlgn val="ctr"/>
        <c:noMultiLvlLbl val="1"/>
      </c:catAx>
      <c:valAx>
        <c:axId val="2094734552"/>
        <c:scaling>
          <c:orientation val="minMax"/>
          <c:max val="49"/>
          <c:min val="45"/>
        </c:scaling>
        <c:delete val="0"/>
        <c:axPos val="l"/>
        <c:majorGridlines>
          <c:spPr>
            <a:ln w="6350" cap="flat">
              <a:solidFill>
                <a:srgbClr val="E1E0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A7273"/>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100" b="0" i="0" u="none" strike="noStrike">
                <a:solidFill>
                  <a:srgbClr val="102A2B"/>
                </a:solidFill>
                <a:latin typeface="+mn-lt"/>
              </a:defRPr>
            </a:pPr>
            <a:r>
              <a:rPr sz="1100" b="0" i="0" u="none" strike="noStrike">
                <a:solidFill>
                  <a:srgbClr val="102A2B"/>
                </a:solidFill>
                <a:latin typeface="+mn-lt"/>
              </a:rPr>
              <a:t>Net new checking accounts, thousands — Sep: 26.1 (12-month high)</a:t>
            </a:r>
          </a:p>
        </c:rich>
      </c:tx>
      <c:layout/>
      <c:overlay val="0"/>
    </c:title>
    <c:autoTitleDeleted val="0"/>
    <c:plotArea>
      <c:layout/>
      <c:barChart>
        <c:barDir val="col"/>
        <c:grouping val="clustered"/>
        <c:varyColors val="0"/>
        <c:ser>
          <c:idx val="0"/>
          <c:order val="0"/>
          <c:tx>
            <c:strRef>
              <c:f>Sheet1!$B$1</c:f>
              <c:strCache>
                <c:ptCount val="1"/>
                <c:pt idx="0">
                  <c:v>Net new checking accounts</c:v>
                </c:pt>
              </c:strCache>
            </c:strRef>
          </c:tx>
          <c:spPr>
            <a:solidFill>
              <a:srgbClr val="028090"/>
            </a:solidFill>
            <a:effectLst/>
          </c:spPr>
          <c:invertIfNegative val="0"/>
          <c:dLbls>
            <c:numFmt formatCode="#,##0" sourceLinked="0"/>
            <c:txPr>
              <a:bodyPr/>
              <a:lstStyle/>
              <a:p>
                <a:pPr>
                  <a:defRPr b="0" i="0" strike="noStrike" sz="1000" u="none">
                    <a:solidFill>
                      <a:srgbClr val="5A7273"/>
                    </a:solidFill>
                    <a:latin typeface="+mn-lt"/>
                  </a:defRPr>
                </a:pPr>
              </a:p>
            </c:txPr>
            <c:showLegendKey val="0"/>
            <c:showVal val="0"/>
            <c:showCatName val="0"/>
            <c:showSerName val="0"/>
            <c:showPercent val="0"/>
            <c:showBubbleSize val="0"/>
            <c:showLeaderLines val="0"/>
          </c:dLbls>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Sheet1!$B$2:$B$13</c:f>
              <c:numCache>
                <c:formatCode>General</c:formatCode>
                <c:ptCount val="12"/>
                <c:pt idx="0">
                  <c:v>18.2</c:v>
                </c:pt>
                <c:pt idx="1">
                  <c:v>16.9</c:v>
                </c:pt>
                <c:pt idx="2">
                  <c:v>21.4</c:v>
                </c:pt>
                <c:pt idx="3">
                  <c:v>19.8</c:v>
                </c:pt>
                <c:pt idx="4">
                  <c:v>20.6</c:v>
                </c:pt>
                <c:pt idx="5">
                  <c:v>22.1</c:v>
                </c:pt>
                <c:pt idx="6">
                  <c:v>23.4</c:v>
                </c:pt>
                <c:pt idx="7">
                  <c:v>21.9</c:v>
                </c:pt>
                <c:pt idx="8">
                  <c:v>24</c:v>
                </c:pt>
                <c:pt idx="9">
                  <c:v>25.2</c:v>
                </c:pt>
                <c:pt idx="10">
                  <c:v>23.7</c:v>
                </c:pt>
                <c:pt idx="11">
                  <c:v>26.1</c:v>
                </c:pt>
              </c:numCache>
            </c:numRef>
          </c:val>
        </c:ser>
        <c:dLbls>
          <c:numFmt formatCode="#,##0" sourceLinked="0"/>
          <c:txPr>
            <a:bodyPr/>
            <a:lstStyle/>
            <a:p>
              <a:pPr>
                <a:defRPr b="0" i="0" strike="noStrike" sz="1000" u="none">
                  <a:solidFill>
                    <a:srgbClr val="5A7273"/>
                  </a:solidFill>
                  <a:latin typeface="+mn-lt"/>
                </a:defRPr>
              </a:pPr>
            </a:p>
          </c:txPr>
          <c:showLegendKey val="0"/>
          <c:showVal val="0"/>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000" b="0" i="0" u="none" strike="noStrike">
                <a:solidFill>
                  <a:srgbClr val="5A7273"/>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A7273"/>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dashboard. Six tiles, two trend charts, one so-what line. Tile colour shows whether the move is good or bad for the business, never simply up or down (a falling cost ratio is green). Keep the charts to one series each; the title of the chart carries the latest value so nothing needs a label on every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NE_PAG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Action title: the one sentence you want remembered</a:t>
            </a:r>
            <a:endParaRPr lang="en-US" sz="2800" dirty="0"/>
          </a:p>
        </p:txBody>
      </p:sp>
      <p:sp>
        <p:nvSpPr>
          <p:cNvPr id="3" name="Text 0"/>
          <p:cNvSpPr/>
          <p:nvPr>
            <p:ph idx="101" type="body" hasCustomPrompt="1"/>
          </p:nvPr>
        </p:nvSpPr>
        <p:spPr>
          <a:xfrm>
            <a:off x="457200" y="1280160"/>
            <a:ext cx="11277295" cy="320040"/>
          </a:xfrm>
          <a:prstGeom prst="rect">
            <a:avLst/>
          </a:prstGeom>
          <a:noFill/>
          <a:ln/>
        </p:spPr>
        <p:txBody>
          <a:bodyPr wrap="square" rtlCol="0"/>
          <a:lstStyle>
            <a:lvl1pPr algn="l" indent="0" marL="0">
              <a:buNone/>
              <a:defRPr lang="en-US" sz="1200" dirty="0">
                <a:solidFill>
                  <a:schemeClr val="tx2"/>
                </a:solidFill>
              </a:defRPr>
            </a:lvl1pPr>
          </a:lstStyle>
          <a:p>
            <a:pPr algn="l" indent="0" marL="0">
              <a:buNone/>
            </a:pPr>
            <a:r>
              <a:rPr lang="en-US" sz="1200" dirty="0">
                <a:solidFill>
                  <a:schemeClr val="tx2"/>
                </a:solidFill>
              </a:rPr>
              <a:t>Period · audience · owner · date</a:t>
            </a:r>
            <a:endParaRPr lang="en-US" sz="1200" dirty="0"/>
          </a:p>
        </p:txBody>
      </p:sp>
      <p:sp>
        <p:nvSpPr>
          <p:cNvPr id="4" name="Text 0"/>
          <p:cNvSpPr txBox="1"/>
          <p:nvPr/>
        </p:nvSpPr>
        <p:spPr>
          <a:xfrm>
            <a:off x="457200" y="6446520"/>
            <a:ext cx="11277295" cy="256032"/>
          </a:xfrm>
          <a:prstGeom prst="rect">
            <a:avLst/>
          </a:prstGeom>
          <a:noFill/>
          <a:ln/>
        </p:spPr>
        <p:txBody>
          <a:bodyPr wrap="square" lIns="0" tIns="0" rIns="0" bIns="0" rtlCol="0" anchor="ctr"/>
          <a:lstStyle/>
          <a:p>
            <a:pPr algn="l" indent="0" marL="0">
              <a:buNone/>
            </a:pPr>
            <a:r>
              <a:rPr lang="en-US" sz="1000" dirty="0">
                <a:solidFill>
                  <a:schemeClr val="tx2"/>
                </a:solidFill>
              </a:rPr>
              <a:t>All figures are illustrative and for template use only  ·  Consumer Banking  ·  Replace with actuals before distribution</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914400"/>
          </a:xfrm>
          <a:prstGeom prst="rect">
            <a:avLst/>
          </a:prstGeom>
          <a:noFill/>
          <a:ln/>
        </p:spPr>
        <p:txBody>
          <a:bodyPr wrap="square" lIns="0" tIns="0" rIns="0" bIns="0" rtlCol="0" anchor="b"/>
          <a:lstStyle/>
          <a:p>
            <a:pPr algn="l" indent="0" marL="0">
              <a:buNone/>
            </a:pPr>
            <a:r>
              <a:rPr lang="en-US" sz="2800" b="1" dirty="0">
                <a:solidFill>
                  <a:schemeClr val="tx1"/>
                </a:solidFill>
              </a:rPr>
              <a:t>Consumer Banking scorecard — September 2026</a:t>
            </a:r>
            <a:endParaRPr lang="en-US" sz="2800" dirty="0"/>
          </a:p>
        </p:txBody>
      </p:sp>
      <p:sp>
        <p:nvSpPr>
          <p:cNvPr id="3" name="Text 0"/>
          <p:cNvSpPr/>
          <p:nvPr>
            <p:ph idx="101" type="body" hasCustomPrompt="1"/>
          </p:nvPr>
        </p:nvSpPr>
        <p:spPr>
          <a:xfrm>
            <a:off x="457200" y="1280160"/>
            <a:ext cx="11277295" cy="320040"/>
          </a:xfrm>
          <a:prstGeom prst="rect">
            <a:avLst/>
          </a:prstGeom>
          <a:noFill/>
          <a:ln/>
        </p:spPr>
        <p:txBody>
          <a:bodyPr wrap="square" lIns="0" tIns="0" rIns="0" bIns="0" rtlCol="0" anchor="t"/>
          <a:lstStyle/>
          <a:p>
            <a:pPr algn="l" indent="0" marL="0">
              <a:buNone/>
            </a:pPr>
            <a:r>
              <a:rPr lang="en-US" sz="1200" dirty="0">
                <a:solidFill>
                  <a:schemeClr val="tx2"/>
                </a:solidFill>
              </a:rPr>
              <a:t>Month-end view vs August  ·  Prepared for: Head of Consumer Banking  ·  Source: Finance MI (illustrative)  ·  Colour = good / bad, not up / down</a:t>
            </a:r>
            <a:endParaRPr lang="en-US" sz="1200" dirty="0"/>
          </a:p>
        </p:txBody>
      </p:sp>
      <p:sp>
        <p:nvSpPr>
          <p:cNvPr id="5" name="Shape 2"/>
          <p:cNvSpPr/>
          <p:nvPr/>
        </p:nvSpPr>
        <p:spPr>
          <a:xfrm>
            <a:off x="457200" y="1783080"/>
            <a:ext cx="1689049" cy="1234440"/>
          </a:xfrm>
          <a:prstGeom prst="roundRect">
            <a:avLst>
              <a:gd name="adj" fmla="val 5926"/>
            </a:avLst>
          </a:prstGeom>
          <a:solidFill>
            <a:schemeClr val="bg2"/>
          </a:solidFill>
          <a:ln/>
        </p:spPr>
      </p:sp>
      <p:sp>
        <p:nvSpPr>
          <p:cNvPr id="6" name="Text 3"/>
          <p:cNvSpPr txBox="1"/>
          <p:nvPr/>
        </p:nvSpPr>
        <p:spPr>
          <a:xfrm>
            <a:off x="594360" y="1892808"/>
            <a:ext cx="1414729" cy="274320"/>
          </a:xfrm>
          <a:prstGeom prst="rect">
            <a:avLst/>
          </a:prstGeom>
          <a:noFill/>
          <a:ln/>
        </p:spPr>
        <p:txBody>
          <a:bodyPr wrap="square" lIns="0" tIns="0" rIns="0" bIns="0" rtlCol="0" anchor="t"/>
          <a:lstStyle/>
          <a:p>
            <a:pPr algn="l" indent="0" marL="0">
              <a:buNone/>
            </a:pPr>
            <a:r>
              <a:rPr lang="en-US" sz="1100" dirty="0">
                <a:solidFill>
                  <a:schemeClr val="tx2"/>
                </a:solidFill>
              </a:rPr>
              <a:t>Total deposits</a:t>
            </a:r>
            <a:endParaRPr lang="en-US" sz="1100" dirty="0"/>
          </a:p>
        </p:txBody>
      </p:sp>
      <p:sp>
        <p:nvSpPr>
          <p:cNvPr id="7" name="Text 4"/>
          <p:cNvSpPr txBox="1"/>
          <p:nvPr/>
        </p:nvSpPr>
        <p:spPr>
          <a:xfrm>
            <a:off x="594360" y="2167128"/>
            <a:ext cx="1414729" cy="457200"/>
          </a:xfrm>
          <a:prstGeom prst="rect">
            <a:avLst/>
          </a:prstGeom>
          <a:noFill/>
          <a:ln/>
        </p:spPr>
        <p:txBody>
          <a:bodyPr wrap="square" lIns="0" tIns="0" rIns="0" bIns="0" rtlCol="0" anchor="t"/>
          <a:lstStyle/>
          <a:p>
            <a:pPr algn="l" indent="0" marL="0">
              <a:buNone/>
            </a:pPr>
            <a:r>
              <a:rPr lang="en-US" sz="2400" b="1" dirty="0">
                <a:solidFill>
                  <a:schemeClr val="tx1"/>
                </a:solidFill>
              </a:rPr>
              <a:t>$48.2bn</a:t>
            </a:r>
            <a:endParaRPr lang="en-US" sz="2400" dirty="0"/>
          </a:p>
        </p:txBody>
      </p:sp>
      <p:sp>
        <p:nvSpPr>
          <p:cNvPr id="8" name="Text 5"/>
          <p:cNvSpPr txBox="1"/>
          <p:nvPr/>
        </p:nvSpPr>
        <p:spPr>
          <a:xfrm>
            <a:off x="594360" y="2651760"/>
            <a:ext cx="1414729" cy="274320"/>
          </a:xfrm>
          <a:prstGeom prst="rect">
            <a:avLst/>
          </a:prstGeom>
          <a:noFill/>
          <a:ln/>
        </p:spPr>
        <p:txBody>
          <a:bodyPr wrap="square" lIns="0" tIns="0" rIns="0" bIns="0" rtlCol="0" anchor="t"/>
          <a:lstStyle/>
          <a:p>
            <a:pPr algn="l" indent="0" marL="0">
              <a:buNone/>
            </a:pPr>
            <a:r>
              <a:rPr lang="en-US" sz="1100" b="1" dirty="0">
                <a:solidFill>
                  <a:srgbClr val="006300"/>
                </a:solidFill>
              </a:rPr>
              <a:t>▲ </a:t>
            </a:r>
            <a:pPr algn="l" indent="0" marL="0">
              <a:buNone/>
            </a:pPr>
            <a:r>
              <a:rPr lang="en-US" sz="1100" dirty="0">
                <a:solidFill>
                  <a:srgbClr val="5A7273"/>
                </a:solidFill>
              </a:rPr>
              <a:t>1.1% vs Aug</a:t>
            </a:r>
            <a:endParaRPr lang="en-US" sz="1100" dirty="0"/>
          </a:p>
        </p:txBody>
      </p:sp>
      <p:sp>
        <p:nvSpPr>
          <p:cNvPr id="9" name="Shape 6"/>
          <p:cNvSpPr/>
          <p:nvPr/>
        </p:nvSpPr>
        <p:spPr>
          <a:xfrm>
            <a:off x="2374849" y="1783080"/>
            <a:ext cx="1689049" cy="1234440"/>
          </a:xfrm>
          <a:prstGeom prst="roundRect">
            <a:avLst>
              <a:gd name="adj" fmla="val 5926"/>
            </a:avLst>
          </a:prstGeom>
          <a:solidFill>
            <a:schemeClr val="bg2"/>
          </a:solidFill>
          <a:ln/>
        </p:spPr>
      </p:sp>
      <p:sp>
        <p:nvSpPr>
          <p:cNvPr id="10" name="Text 7"/>
          <p:cNvSpPr txBox="1"/>
          <p:nvPr/>
        </p:nvSpPr>
        <p:spPr>
          <a:xfrm>
            <a:off x="2512009" y="1892808"/>
            <a:ext cx="1414729" cy="274320"/>
          </a:xfrm>
          <a:prstGeom prst="rect">
            <a:avLst/>
          </a:prstGeom>
          <a:noFill/>
          <a:ln/>
        </p:spPr>
        <p:txBody>
          <a:bodyPr wrap="square" lIns="0" tIns="0" rIns="0" bIns="0" rtlCol="0" anchor="t"/>
          <a:lstStyle/>
          <a:p>
            <a:pPr algn="l" indent="0" marL="0">
              <a:buNone/>
            </a:pPr>
            <a:r>
              <a:rPr lang="en-US" sz="1100" dirty="0">
                <a:solidFill>
                  <a:schemeClr val="tx2"/>
                </a:solidFill>
              </a:rPr>
              <a:t>Consumer loans</a:t>
            </a:r>
            <a:endParaRPr lang="en-US" sz="1100" dirty="0"/>
          </a:p>
        </p:txBody>
      </p:sp>
      <p:sp>
        <p:nvSpPr>
          <p:cNvPr id="11" name="Text 8"/>
          <p:cNvSpPr txBox="1"/>
          <p:nvPr/>
        </p:nvSpPr>
        <p:spPr>
          <a:xfrm>
            <a:off x="2512009" y="2167128"/>
            <a:ext cx="1414729" cy="457200"/>
          </a:xfrm>
          <a:prstGeom prst="rect">
            <a:avLst/>
          </a:prstGeom>
          <a:noFill/>
          <a:ln/>
        </p:spPr>
        <p:txBody>
          <a:bodyPr wrap="square" lIns="0" tIns="0" rIns="0" bIns="0" rtlCol="0" anchor="t"/>
          <a:lstStyle/>
          <a:p>
            <a:pPr algn="l" indent="0" marL="0">
              <a:buNone/>
            </a:pPr>
            <a:r>
              <a:rPr lang="en-US" sz="2400" b="1" dirty="0">
                <a:solidFill>
                  <a:schemeClr val="tx1"/>
                </a:solidFill>
              </a:rPr>
              <a:t>$31.6bn</a:t>
            </a:r>
            <a:endParaRPr lang="en-US" sz="2400" dirty="0"/>
          </a:p>
        </p:txBody>
      </p:sp>
      <p:sp>
        <p:nvSpPr>
          <p:cNvPr id="12" name="Text 9"/>
          <p:cNvSpPr txBox="1"/>
          <p:nvPr/>
        </p:nvSpPr>
        <p:spPr>
          <a:xfrm>
            <a:off x="2512009" y="2651760"/>
            <a:ext cx="1414729" cy="274320"/>
          </a:xfrm>
          <a:prstGeom prst="rect">
            <a:avLst/>
          </a:prstGeom>
          <a:noFill/>
          <a:ln/>
        </p:spPr>
        <p:txBody>
          <a:bodyPr wrap="square" lIns="0" tIns="0" rIns="0" bIns="0" rtlCol="0" anchor="t"/>
          <a:lstStyle/>
          <a:p>
            <a:pPr algn="l" indent="0" marL="0">
              <a:buNone/>
            </a:pPr>
            <a:r>
              <a:rPr lang="en-US" sz="1100" b="1" dirty="0">
                <a:solidFill>
                  <a:srgbClr val="006300"/>
                </a:solidFill>
              </a:rPr>
              <a:t>▲ </a:t>
            </a:r>
            <a:pPr algn="l" indent="0" marL="0">
              <a:buNone/>
            </a:pPr>
            <a:r>
              <a:rPr lang="en-US" sz="1100" dirty="0">
                <a:solidFill>
                  <a:srgbClr val="5A7273"/>
                </a:solidFill>
              </a:rPr>
              <a:t>0.6% vs Aug</a:t>
            </a:r>
            <a:endParaRPr lang="en-US" sz="1100" dirty="0"/>
          </a:p>
        </p:txBody>
      </p:sp>
      <p:sp>
        <p:nvSpPr>
          <p:cNvPr id="13" name="Shape 10"/>
          <p:cNvSpPr/>
          <p:nvPr/>
        </p:nvSpPr>
        <p:spPr>
          <a:xfrm>
            <a:off x="4292498" y="1783080"/>
            <a:ext cx="1689049" cy="1234440"/>
          </a:xfrm>
          <a:prstGeom prst="roundRect">
            <a:avLst>
              <a:gd name="adj" fmla="val 5926"/>
            </a:avLst>
          </a:prstGeom>
          <a:solidFill>
            <a:schemeClr val="bg2"/>
          </a:solidFill>
          <a:ln/>
        </p:spPr>
      </p:sp>
      <p:sp>
        <p:nvSpPr>
          <p:cNvPr id="14" name="Text 11"/>
          <p:cNvSpPr txBox="1"/>
          <p:nvPr/>
        </p:nvSpPr>
        <p:spPr>
          <a:xfrm>
            <a:off x="4429658" y="1892808"/>
            <a:ext cx="1414729" cy="274320"/>
          </a:xfrm>
          <a:prstGeom prst="rect">
            <a:avLst/>
          </a:prstGeom>
          <a:noFill/>
          <a:ln/>
        </p:spPr>
        <p:txBody>
          <a:bodyPr wrap="square" lIns="0" tIns="0" rIns="0" bIns="0" rtlCol="0" anchor="t"/>
          <a:lstStyle/>
          <a:p>
            <a:pPr algn="l" indent="0" marL="0">
              <a:buNone/>
            </a:pPr>
            <a:r>
              <a:rPr lang="en-US" sz="1100" dirty="0">
                <a:solidFill>
                  <a:schemeClr val="tx2"/>
                </a:solidFill>
              </a:rPr>
              <a:t>Net interest margin</a:t>
            </a:r>
            <a:endParaRPr lang="en-US" sz="1100" dirty="0"/>
          </a:p>
        </p:txBody>
      </p:sp>
      <p:sp>
        <p:nvSpPr>
          <p:cNvPr id="15" name="Text 12"/>
          <p:cNvSpPr txBox="1"/>
          <p:nvPr/>
        </p:nvSpPr>
        <p:spPr>
          <a:xfrm>
            <a:off x="4429658" y="2167128"/>
            <a:ext cx="1414729" cy="457200"/>
          </a:xfrm>
          <a:prstGeom prst="rect">
            <a:avLst/>
          </a:prstGeom>
          <a:noFill/>
          <a:ln/>
        </p:spPr>
        <p:txBody>
          <a:bodyPr wrap="square" lIns="0" tIns="0" rIns="0" bIns="0" rtlCol="0" anchor="t"/>
          <a:lstStyle/>
          <a:p>
            <a:pPr algn="l" indent="0" marL="0">
              <a:buNone/>
            </a:pPr>
            <a:r>
              <a:rPr lang="en-US" sz="2400" b="1" dirty="0">
                <a:solidFill>
                  <a:schemeClr val="tx1"/>
                </a:solidFill>
              </a:rPr>
              <a:t>3.18%</a:t>
            </a:r>
            <a:endParaRPr lang="en-US" sz="2400" dirty="0"/>
          </a:p>
        </p:txBody>
      </p:sp>
      <p:sp>
        <p:nvSpPr>
          <p:cNvPr id="16" name="Text 13"/>
          <p:cNvSpPr txBox="1"/>
          <p:nvPr/>
        </p:nvSpPr>
        <p:spPr>
          <a:xfrm>
            <a:off x="4429658" y="2651760"/>
            <a:ext cx="1414729" cy="274320"/>
          </a:xfrm>
          <a:prstGeom prst="rect">
            <a:avLst/>
          </a:prstGeom>
          <a:noFill/>
          <a:ln/>
        </p:spPr>
        <p:txBody>
          <a:bodyPr wrap="square" lIns="0" tIns="0" rIns="0" bIns="0" rtlCol="0" anchor="t"/>
          <a:lstStyle/>
          <a:p>
            <a:pPr algn="l" indent="0" marL="0">
              <a:buNone/>
            </a:pPr>
            <a:r>
              <a:rPr lang="en-US" sz="1100" b="1" dirty="0">
                <a:solidFill>
                  <a:srgbClr val="B3261E"/>
                </a:solidFill>
              </a:rPr>
              <a:t>▼ </a:t>
            </a:r>
            <a:pPr algn="l" indent="0" marL="0">
              <a:buNone/>
            </a:pPr>
            <a:r>
              <a:rPr lang="en-US" sz="1100" dirty="0">
                <a:solidFill>
                  <a:srgbClr val="5A7273"/>
                </a:solidFill>
              </a:rPr>
              <a:t>3 bps vs Aug</a:t>
            </a:r>
            <a:endParaRPr lang="en-US" sz="1100" dirty="0"/>
          </a:p>
        </p:txBody>
      </p:sp>
      <p:sp>
        <p:nvSpPr>
          <p:cNvPr id="17" name="Shape 14"/>
          <p:cNvSpPr/>
          <p:nvPr/>
        </p:nvSpPr>
        <p:spPr>
          <a:xfrm>
            <a:off x="6210148" y="1783080"/>
            <a:ext cx="1689049" cy="1234440"/>
          </a:xfrm>
          <a:prstGeom prst="roundRect">
            <a:avLst>
              <a:gd name="adj" fmla="val 5926"/>
            </a:avLst>
          </a:prstGeom>
          <a:solidFill>
            <a:schemeClr val="bg2"/>
          </a:solidFill>
          <a:ln/>
        </p:spPr>
      </p:sp>
      <p:sp>
        <p:nvSpPr>
          <p:cNvPr id="18" name="Text 15"/>
          <p:cNvSpPr txBox="1"/>
          <p:nvPr/>
        </p:nvSpPr>
        <p:spPr>
          <a:xfrm>
            <a:off x="6347308" y="1892808"/>
            <a:ext cx="1414729" cy="274320"/>
          </a:xfrm>
          <a:prstGeom prst="rect">
            <a:avLst/>
          </a:prstGeom>
          <a:noFill/>
          <a:ln/>
        </p:spPr>
        <p:txBody>
          <a:bodyPr wrap="square" lIns="0" tIns="0" rIns="0" bIns="0" rtlCol="0" anchor="t"/>
          <a:lstStyle/>
          <a:p>
            <a:pPr algn="l" indent="0" marL="0">
              <a:buNone/>
            </a:pPr>
            <a:r>
              <a:rPr lang="en-US" sz="1100" dirty="0">
                <a:solidFill>
                  <a:schemeClr val="tx2"/>
                </a:solidFill>
              </a:rPr>
              <a:t>Cost-to-income</a:t>
            </a:r>
            <a:endParaRPr lang="en-US" sz="1100" dirty="0"/>
          </a:p>
        </p:txBody>
      </p:sp>
      <p:sp>
        <p:nvSpPr>
          <p:cNvPr id="19" name="Text 16"/>
          <p:cNvSpPr txBox="1"/>
          <p:nvPr/>
        </p:nvSpPr>
        <p:spPr>
          <a:xfrm>
            <a:off x="6347308" y="2167128"/>
            <a:ext cx="1414729" cy="457200"/>
          </a:xfrm>
          <a:prstGeom prst="rect">
            <a:avLst/>
          </a:prstGeom>
          <a:noFill/>
          <a:ln/>
        </p:spPr>
        <p:txBody>
          <a:bodyPr wrap="square" lIns="0" tIns="0" rIns="0" bIns="0" rtlCol="0" anchor="t"/>
          <a:lstStyle/>
          <a:p>
            <a:pPr algn="l" indent="0" marL="0">
              <a:buNone/>
            </a:pPr>
            <a:r>
              <a:rPr lang="en-US" sz="2400" b="1" dirty="0">
                <a:solidFill>
                  <a:schemeClr val="tx1"/>
                </a:solidFill>
              </a:rPr>
              <a:t>58.4%</a:t>
            </a:r>
            <a:endParaRPr lang="en-US" sz="2400" dirty="0"/>
          </a:p>
        </p:txBody>
      </p:sp>
      <p:sp>
        <p:nvSpPr>
          <p:cNvPr id="20" name="Text 17"/>
          <p:cNvSpPr txBox="1"/>
          <p:nvPr/>
        </p:nvSpPr>
        <p:spPr>
          <a:xfrm>
            <a:off x="6347308" y="2651760"/>
            <a:ext cx="1414729" cy="274320"/>
          </a:xfrm>
          <a:prstGeom prst="rect">
            <a:avLst/>
          </a:prstGeom>
          <a:noFill/>
          <a:ln/>
        </p:spPr>
        <p:txBody>
          <a:bodyPr wrap="square" lIns="0" tIns="0" rIns="0" bIns="0" rtlCol="0" anchor="t"/>
          <a:lstStyle/>
          <a:p>
            <a:pPr algn="l" indent="0" marL="0">
              <a:buNone/>
            </a:pPr>
            <a:r>
              <a:rPr lang="en-US" sz="1100" b="1" dirty="0">
                <a:solidFill>
                  <a:srgbClr val="006300"/>
                </a:solidFill>
              </a:rPr>
              <a:t>▼ </a:t>
            </a:r>
            <a:pPr algn="l" indent="0" marL="0">
              <a:buNone/>
            </a:pPr>
            <a:r>
              <a:rPr lang="en-US" sz="1100" dirty="0">
                <a:solidFill>
                  <a:srgbClr val="5A7273"/>
                </a:solidFill>
              </a:rPr>
              <a:t>0.9 pts vs Aug</a:t>
            </a:r>
            <a:endParaRPr lang="en-US" sz="1100" dirty="0"/>
          </a:p>
        </p:txBody>
      </p:sp>
      <p:sp>
        <p:nvSpPr>
          <p:cNvPr id="21" name="Shape 18"/>
          <p:cNvSpPr/>
          <p:nvPr/>
        </p:nvSpPr>
        <p:spPr>
          <a:xfrm>
            <a:off x="8127797" y="1783080"/>
            <a:ext cx="1689049" cy="1234440"/>
          </a:xfrm>
          <a:prstGeom prst="roundRect">
            <a:avLst>
              <a:gd name="adj" fmla="val 5926"/>
            </a:avLst>
          </a:prstGeom>
          <a:solidFill>
            <a:schemeClr val="bg2"/>
          </a:solidFill>
          <a:ln/>
        </p:spPr>
      </p:sp>
      <p:sp>
        <p:nvSpPr>
          <p:cNvPr id="22" name="Text 19"/>
          <p:cNvSpPr txBox="1"/>
          <p:nvPr/>
        </p:nvSpPr>
        <p:spPr>
          <a:xfrm>
            <a:off x="8264957" y="1892808"/>
            <a:ext cx="1414729" cy="274320"/>
          </a:xfrm>
          <a:prstGeom prst="rect">
            <a:avLst/>
          </a:prstGeom>
          <a:noFill/>
          <a:ln/>
        </p:spPr>
        <p:txBody>
          <a:bodyPr wrap="square" lIns="0" tIns="0" rIns="0" bIns="0" rtlCol="0" anchor="t"/>
          <a:lstStyle/>
          <a:p>
            <a:pPr algn="l" indent="0" marL="0">
              <a:buNone/>
            </a:pPr>
            <a:r>
              <a:rPr lang="en-US" sz="1100" dirty="0">
                <a:solidFill>
                  <a:schemeClr val="tx2"/>
                </a:solidFill>
              </a:rPr>
              <a:t>Digital active customers</a:t>
            </a:r>
            <a:endParaRPr lang="en-US" sz="1100" dirty="0"/>
          </a:p>
        </p:txBody>
      </p:sp>
      <p:sp>
        <p:nvSpPr>
          <p:cNvPr id="23" name="Text 20"/>
          <p:cNvSpPr txBox="1"/>
          <p:nvPr/>
        </p:nvSpPr>
        <p:spPr>
          <a:xfrm>
            <a:off x="8264957" y="2167128"/>
            <a:ext cx="1414729" cy="457200"/>
          </a:xfrm>
          <a:prstGeom prst="rect">
            <a:avLst/>
          </a:prstGeom>
          <a:noFill/>
          <a:ln/>
        </p:spPr>
        <p:txBody>
          <a:bodyPr wrap="square" lIns="0" tIns="0" rIns="0" bIns="0" rtlCol="0" anchor="t"/>
          <a:lstStyle/>
          <a:p>
            <a:pPr algn="l" indent="0" marL="0">
              <a:buNone/>
            </a:pPr>
            <a:r>
              <a:rPr lang="en-US" sz="2400" b="1" dirty="0">
                <a:solidFill>
                  <a:schemeClr val="tx1"/>
                </a:solidFill>
              </a:rPr>
              <a:t>68%</a:t>
            </a:r>
            <a:endParaRPr lang="en-US" sz="2400" dirty="0"/>
          </a:p>
        </p:txBody>
      </p:sp>
      <p:sp>
        <p:nvSpPr>
          <p:cNvPr id="24" name="Text 21"/>
          <p:cNvSpPr txBox="1"/>
          <p:nvPr/>
        </p:nvSpPr>
        <p:spPr>
          <a:xfrm>
            <a:off x="8264957" y="2651760"/>
            <a:ext cx="1414729" cy="274320"/>
          </a:xfrm>
          <a:prstGeom prst="rect">
            <a:avLst/>
          </a:prstGeom>
          <a:noFill/>
          <a:ln/>
        </p:spPr>
        <p:txBody>
          <a:bodyPr wrap="square" lIns="0" tIns="0" rIns="0" bIns="0" rtlCol="0" anchor="t"/>
          <a:lstStyle/>
          <a:p>
            <a:pPr algn="l" indent="0" marL="0">
              <a:buNone/>
            </a:pPr>
            <a:r>
              <a:rPr lang="en-US" sz="1100" b="1" dirty="0">
                <a:solidFill>
                  <a:srgbClr val="006300"/>
                </a:solidFill>
              </a:rPr>
              <a:t>▲ </a:t>
            </a:r>
            <a:pPr algn="l" indent="0" marL="0">
              <a:buNone/>
            </a:pPr>
            <a:r>
              <a:rPr lang="en-US" sz="1100" dirty="0">
                <a:solidFill>
                  <a:srgbClr val="5A7273"/>
                </a:solidFill>
              </a:rPr>
              <a:t>1 pt vs Aug</a:t>
            </a:r>
            <a:endParaRPr lang="en-US" sz="1100" dirty="0"/>
          </a:p>
        </p:txBody>
      </p:sp>
      <p:sp>
        <p:nvSpPr>
          <p:cNvPr id="25" name="Shape 22"/>
          <p:cNvSpPr/>
          <p:nvPr/>
        </p:nvSpPr>
        <p:spPr>
          <a:xfrm>
            <a:off x="10045446" y="1783080"/>
            <a:ext cx="1689049" cy="1234440"/>
          </a:xfrm>
          <a:prstGeom prst="roundRect">
            <a:avLst>
              <a:gd name="adj" fmla="val 5926"/>
            </a:avLst>
          </a:prstGeom>
          <a:solidFill>
            <a:schemeClr val="bg2"/>
          </a:solidFill>
          <a:ln/>
        </p:spPr>
      </p:sp>
      <p:sp>
        <p:nvSpPr>
          <p:cNvPr id="26" name="Text 23"/>
          <p:cNvSpPr txBox="1"/>
          <p:nvPr/>
        </p:nvSpPr>
        <p:spPr>
          <a:xfrm>
            <a:off x="10182606" y="1892808"/>
            <a:ext cx="1414729" cy="274320"/>
          </a:xfrm>
          <a:prstGeom prst="rect">
            <a:avLst/>
          </a:prstGeom>
          <a:noFill/>
          <a:ln/>
        </p:spPr>
        <p:txBody>
          <a:bodyPr wrap="square" lIns="0" tIns="0" rIns="0" bIns="0" rtlCol="0" anchor="t"/>
          <a:lstStyle/>
          <a:p>
            <a:pPr algn="l" indent="0" marL="0">
              <a:buNone/>
            </a:pPr>
            <a:r>
              <a:rPr lang="en-US" sz="1100" dirty="0">
                <a:solidFill>
                  <a:schemeClr val="tx2"/>
                </a:solidFill>
              </a:rPr>
              <a:t>Card 30+ DPD</a:t>
            </a:r>
            <a:endParaRPr lang="en-US" sz="1100" dirty="0"/>
          </a:p>
        </p:txBody>
      </p:sp>
      <p:sp>
        <p:nvSpPr>
          <p:cNvPr id="27" name="Text 24"/>
          <p:cNvSpPr txBox="1"/>
          <p:nvPr/>
        </p:nvSpPr>
        <p:spPr>
          <a:xfrm>
            <a:off x="10182606" y="2167128"/>
            <a:ext cx="1414729" cy="457200"/>
          </a:xfrm>
          <a:prstGeom prst="rect">
            <a:avLst/>
          </a:prstGeom>
          <a:noFill/>
          <a:ln/>
        </p:spPr>
        <p:txBody>
          <a:bodyPr wrap="square" lIns="0" tIns="0" rIns="0" bIns="0" rtlCol="0" anchor="t"/>
          <a:lstStyle/>
          <a:p>
            <a:pPr algn="l" indent="0" marL="0">
              <a:buNone/>
            </a:pPr>
            <a:r>
              <a:rPr lang="en-US" sz="2400" b="1" dirty="0">
                <a:solidFill>
                  <a:schemeClr val="tx1"/>
                </a:solidFill>
              </a:rPr>
              <a:t>1.42%</a:t>
            </a:r>
            <a:endParaRPr lang="en-US" sz="2400" dirty="0"/>
          </a:p>
        </p:txBody>
      </p:sp>
      <p:sp>
        <p:nvSpPr>
          <p:cNvPr id="28" name="Text 25"/>
          <p:cNvSpPr txBox="1"/>
          <p:nvPr/>
        </p:nvSpPr>
        <p:spPr>
          <a:xfrm>
            <a:off x="10182606" y="2651760"/>
            <a:ext cx="1414729" cy="274320"/>
          </a:xfrm>
          <a:prstGeom prst="rect">
            <a:avLst/>
          </a:prstGeom>
          <a:noFill/>
          <a:ln/>
        </p:spPr>
        <p:txBody>
          <a:bodyPr wrap="square" lIns="0" tIns="0" rIns="0" bIns="0" rtlCol="0" anchor="t"/>
          <a:lstStyle/>
          <a:p>
            <a:pPr algn="l" indent="0" marL="0">
              <a:buNone/>
            </a:pPr>
            <a:r>
              <a:rPr lang="en-US" sz="1100" b="1" dirty="0">
                <a:solidFill>
                  <a:srgbClr val="B3261E"/>
                </a:solidFill>
              </a:rPr>
              <a:t>▲ </a:t>
            </a:r>
            <a:pPr algn="l" indent="0" marL="0">
              <a:buNone/>
            </a:pPr>
            <a:r>
              <a:rPr lang="en-US" sz="1100" dirty="0">
                <a:solidFill>
                  <a:srgbClr val="5A7273"/>
                </a:solidFill>
              </a:rPr>
              <a:t>6 bps vs Aug</a:t>
            </a:r>
            <a:endParaRPr lang="en-US" sz="1100" dirty="0"/>
          </a:p>
        </p:txBody>
      </p:sp>
      <p:graphicFrame>
        <p:nvGraphicFramePr>
          <p:cNvPr id="29" name="Chart 0" descr=""/>
          <p:cNvGraphicFramePr/>
          <p:nvPr/>
        </p:nvGraphicFramePr>
        <p:xfrm>
          <a:off x="457200" y="3246120"/>
          <a:ext cx="5487772"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30" name="Chart 1" descr=""/>
          <p:cNvGraphicFramePr/>
          <p:nvPr/>
        </p:nvGraphicFramePr>
        <p:xfrm>
          <a:off x="6246724" y="3246120"/>
          <a:ext cx="5487772" cy="2468880"/>
        </p:xfrm>
        <a:graphic xmlns:a="http://schemas.openxmlformats.org/drawingml/2006/main">
          <a:graphicData uri="http://schemas.openxmlformats.org/drawingml/2006/chart">
            <c:chart xmlns:c="http://schemas.openxmlformats.org/drawingml/2006/chart" r:id="rId2"/>
          </a:graphicData>
        </a:graphic>
      </p:graphicFrame>
      <p:sp>
        <p:nvSpPr>
          <p:cNvPr id="31" name="Text 26"/>
          <p:cNvSpPr txBox="1"/>
          <p:nvPr/>
        </p:nvSpPr>
        <p:spPr>
          <a:xfrm>
            <a:off x="457200" y="5852160"/>
            <a:ext cx="11277295" cy="502920"/>
          </a:xfrm>
          <a:prstGeom prst="rect">
            <a:avLst/>
          </a:prstGeom>
          <a:noFill/>
          <a:ln/>
        </p:spPr>
        <p:txBody>
          <a:bodyPr wrap="square" lIns="0" tIns="0" rIns="0" bIns="0" rtlCol="0" anchor="t"/>
          <a:lstStyle/>
          <a:p>
            <a:pPr algn="l" indent="0" marL="0">
              <a:buNone/>
            </a:pPr>
            <a:r>
              <a:rPr lang="en-US" sz="1400" b="1" dirty="0">
                <a:solidFill>
                  <a:schemeClr val="accent1"/>
                </a:solidFill>
              </a:rPr>
              <a:t>So what: </a:t>
            </a:r>
            <a:pPr algn="l" indent="0" marL="0">
              <a:buNone/>
            </a:pPr>
            <a:r>
              <a:rPr lang="en-US" sz="1400" dirty="0">
                <a:solidFill>
                  <a:schemeClr val="tx1"/>
                </a:solidFill>
              </a:rPr>
              <a:t>balance growth is intact and acquisition is at a 12-month high; margin compression (−3 bps) and card delinquency (+6 bps) are the two items for discussion.</a:t>
            </a:r>
            <a:endParaRPr lang="en-US" sz="1400" dirty="0"/>
          </a:p>
        </p:txBody>
      </p:sp>
    </p:spTree>
  </p:cSld>
  <p:clrMapOvr>
    <a:masterClrMapping/>
  </p:clrMapOvr>
</p:sld>
</file>

<file path=ppt/theme/theme1.xml><?xml version="1.0" encoding="utf-8"?>
<a:theme xmlns:a="http://schemas.openxmlformats.org/drawingml/2006/main" name="Teal Trust">
  <a:themeElements>
    <a:clrScheme name="Teal Trust">
      <a:dk1>
        <a:srgbClr val="102A2B"/>
      </a:dk1>
      <a:lt1>
        <a:srgbClr val="FFFFFF"/>
      </a:lt1>
      <a:dk2>
        <a:srgbClr val="5A7273"/>
      </a:dk2>
      <a:lt2>
        <a:srgbClr val="EAF6F5"/>
      </a:lt2>
      <a:accent1>
        <a:srgbClr val="028090"/>
      </a:accent1>
      <a:accent2>
        <a:srgbClr val="00A896"/>
      </a:accent2>
      <a:accent3>
        <a:srgbClr val="02C39A"/>
      </a:accent3>
      <a:accent4>
        <a:srgbClr val="05668D"/>
      </a:accent4>
      <a:accent5>
        <a:srgbClr val="7FB7BE"/>
      </a:accent5>
      <a:accent6>
        <a:srgbClr val="F0A202"/>
      </a:accent6>
      <a:hlink>
        <a:srgbClr val="028090"/>
      </a:hlink>
      <a:folHlink>
        <a:srgbClr val="5A7273"/>
      </a:folHlink>
    </a:clrScheme>
    <a:fontScheme name="Teal Tru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Consumer Banking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 Banking scorecard — September 2026</dc:title>
  <dc:subject>One-slide manager report template</dc:subject>
  <dc:creator>Consumer Banking</dc:creator>
  <cp:lastModifiedBy>Consumer Banking</cp:lastModifiedBy>
  <cp:revision>1</cp:revision>
  <dcterms:created xsi:type="dcterms:W3CDTF">2026-10-05T12:57:55Z</dcterms:created>
  <dcterms:modified xsi:type="dcterms:W3CDTF">2026-10-05T12:57:55Z</dcterms:modified>
</cp:coreProperties>
</file>